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CA97D61-ED4F-485E-A609-FCA93E8E2A9C}" v="784" dt="2026-09-09T17:07:53.025"/>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9/9/2026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9/9/2026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9/9/2026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9/9/2026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9/9/2026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988808" y="2675417"/>
            <a:ext cx="9542497" cy="870447"/>
          </a:xfrm>
        </p:spPr>
        <p:txBody>
          <a:bodyPr vert="horz" lIns="91440" tIns="45720" rIns="91440" bIns="45720" rtlCol="0" anchor="t">
            <a:noAutofit/>
          </a:bodyPr>
          <a:lstStyle/>
          <a:p>
            <a:r>
              <a:rPr lang="en-GB" sz="2700" dirty="0"/>
              <a:t>Project Title -Seasonal Agriculture Performance Analysis</a:t>
            </a:r>
          </a:p>
          <a:p>
            <a:endParaRPr lang="en-GB" sz="27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985628" y="4449469"/>
            <a:ext cx="4375805" cy="646331"/>
          </a:xfrm>
          <a:prstGeom prst="rect">
            <a:avLst/>
          </a:prstGeom>
          <a:noFill/>
        </p:spPr>
        <p:txBody>
          <a:bodyPr wrap="square" lIns="91440" tIns="45720" rIns="91440" bIns="45720" rtlCol="0" anchor="t">
            <a:spAutoFit/>
          </a:bodyPr>
          <a:lstStyle/>
          <a:p>
            <a:r>
              <a:rPr lang="en-US" b="1" dirty="0"/>
              <a:t>AICTE STU ID : STU6946875180e901766229841</a:t>
            </a:r>
          </a:p>
        </p:txBody>
      </p:sp>
      <p:sp>
        <p:nvSpPr>
          <p:cNvPr id="9" name="TextBox 8">
            <a:extLst>
              <a:ext uri="{FF2B5EF4-FFF2-40B4-BE49-F238E27FC236}">
                <a16:creationId xmlns:a16="http://schemas.microsoft.com/office/drawing/2014/main" id="{ABEE35F9-1943-8D19-11C2-62831DF846EA}"/>
              </a:ext>
            </a:extLst>
          </p:cNvPr>
          <p:cNvSpPr txBox="1"/>
          <p:nvPr/>
        </p:nvSpPr>
        <p:spPr>
          <a:xfrm>
            <a:off x="982133" y="3428999"/>
            <a:ext cx="5943599"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dirty="0"/>
              <a:t>Name: Madhan R</a:t>
            </a:r>
          </a:p>
          <a:p>
            <a:r>
              <a:rPr lang="en-US" sz="2000" b="1" dirty="0"/>
              <a:t>College Name: Panimalar Engineering College</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vert="horz" lIns="91440" tIns="45720" rIns="91440" bIns="45720" rtlCol="0" anchor="t">
            <a:normAutofit fontScale="70000" lnSpcReduction="20000"/>
          </a:bodyPr>
          <a:lstStyle/>
          <a:p>
            <a:pPr>
              <a:lnSpc>
                <a:spcPct val="100000"/>
              </a:lnSpc>
            </a:pPr>
            <a:r>
              <a:rPr lang="en-IN" sz="2800" dirty="0"/>
              <a:t>(</a:t>
            </a:r>
            <a:r>
              <a:rPr lang="en-US" sz="2800" dirty="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4776" y="388270"/>
            <a:ext cx="6276109" cy="830997"/>
          </a:xfrm>
        </p:spPr>
        <p:txBody>
          <a:bodyPr>
            <a:normAutofit fontScale="90000"/>
          </a:bodyPr>
          <a:lstStyle/>
          <a:p>
            <a:r>
              <a:rPr lang="en-GB" sz="2700" dirty="0"/>
              <a:t>Project Description</a:t>
            </a:r>
            <a:br>
              <a:rPr lang="en-GB" sz="2700" dirty="0"/>
            </a:br>
            <a:br>
              <a:rPr lang="en-GB" sz="1800" dirty="0"/>
            </a:br>
            <a:r>
              <a:rPr lang="en-GB" sz="1800" b="0" dirty="0">
                <a:ea typeface="+mj-lt"/>
                <a:cs typeface="+mj-lt"/>
              </a:rPr>
              <a:t>This project performs a complete </a:t>
            </a:r>
            <a:r>
              <a:rPr lang="en-GB" sz="1800" dirty="0">
                <a:ea typeface="+mj-lt"/>
                <a:cs typeface="+mj-lt"/>
              </a:rPr>
              <a:t>data analytics study of agricultural performance across different seasons</a:t>
            </a:r>
            <a:r>
              <a:rPr lang="en-GB" sz="1800" b="0" dirty="0">
                <a:ea typeface="+mj-lt"/>
                <a:cs typeface="+mj-lt"/>
              </a:rPr>
              <a:t>.</a:t>
            </a:r>
            <a:endParaRPr lang="en-IN" sz="1800"/>
          </a:p>
          <a:p>
            <a:r>
              <a:rPr lang="en-GB" sz="1800" b="0" dirty="0">
                <a:ea typeface="+mj-lt"/>
                <a:cs typeface="+mj-lt"/>
              </a:rPr>
              <a:t>The dataset contains information about:</a:t>
            </a:r>
            <a:endParaRPr lang="en-GB" sz="1800" dirty="0"/>
          </a:p>
          <a:p>
            <a:pPr marL="285750" indent="-285750">
              <a:buFont typeface="Arial"/>
              <a:buChar char="•"/>
            </a:pPr>
            <a:r>
              <a:rPr lang="en-GB" sz="1800" b="0" dirty="0">
                <a:ea typeface="+mj-lt"/>
                <a:cs typeface="+mj-lt"/>
              </a:rPr>
              <a:t>Seasons </a:t>
            </a:r>
            <a:endParaRPr lang="en-GB" sz="1800" dirty="0"/>
          </a:p>
          <a:p>
            <a:pPr marL="285750" indent="-285750">
              <a:buFont typeface="Arial"/>
              <a:buChar char="•"/>
            </a:pPr>
            <a:r>
              <a:rPr lang="en-GB" sz="1800" b="0" dirty="0">
                <a:ea typeface="+mj-lt"/>
                <a:cs typeface="+mj-lt"/>
              </a:rPr>
              <a:t>Crops </a:t>
            </a:r>
            <a:endParaRPr lang="en-GB" sz="1800" dirty="0"/>
          </a:p>
          <a:p>
            <a:pPr marL="285750" indent="-285750">
              <a:buFont typeface="Arial"/>
              <a:buChar char="•"/>
            </a:pPr>
            <a:r>
              <a:rPr lang="en-GB" sz="1800" b="0" dirty="0">
                <a:ea typeface="+mj-lt"/>
                <a:cs typeface="+mj-lt"/>
              </a:rPr>
              <a:t>States and districts </a:t>
            </a:r>
            <a:endParaRPr lang="en-GB" sz="1800" dirty="0"/>
          </a:p>
          <a:p>
            <a:pPr marL="285750" indent="-285750">
              <a:buFont typeface="Arial"/>
              <a:buChar char="•"/>
            </a:pPr>
            <a:r>
              <a:rPr lang="en-GB" sz="1800" b="0" dirty="0">
                <a:ea typeface="+mj-lt"/>
                <a:cs typeface="+mj-lt"/>
              </a:rPr>
              <a:t>Farming conditions </a:t>
            </a:r>
            <a:endParaRPr lang="en-GB" sz="1800" dirty="0"/>
          </a:p>
          <a:p>
            <a:pPr marL="285750" indent="-285750">
              <a:buFont typeface="Arial"/>
              <a:buChar char="•"/>
            </a:pPr>
            <a:r>
              <a:rPr lang="en-GB" sz="1800" b="0" dirty="0">
                <a:ea typeface="+mj-lt"/>
                <a:cs typeface="+mj-lt"/>
              </a:rPr>
              <a:t>Environmental factors </a:t>
            </a:r>
            <a:endParaRPr lang="en-GB" sz="1800" dirty="0"/>
          </a:p>
          <a:p>
            <a:pPr marL="285750" indent="-285750">
              <a:buFont typeface="Arial"/>
              <a:buChar char="•"/>
            </a:pPr>
            <a:r>
              <a:rPr lang="en-GB" sz="1800" b="0" dirty="0">
                <a:ea typeface="+mj-lt"/>
                <a:cs typeface="+mj-lt"/>
              </a:rPr>
              <a:t>Irrigation methods </a:t>
            </a:r>
            <a:endParaRPr lang="en-GB" sz="1800" dirty="0"/>
          </a:p>
          <a:p>
            <a:pPr marL="285750" indent="-285750">
              <a:buFont typeface="Arial"/>
              <a:buChar char="•"/>
            </a:pPr>
            <a:r>
              <a:rPr lang="en-GB" sz="1800" b="0" dirty="0">
                <a:ea typeface="+mj-lt"/>
                <a:cs typeface="+mj-lt"/>
              </a:rPr>
              <a:t>Water usage and efficiency </a:t>
            </a:r>
            <a:endParaRPr lang="en-GB" sz="1800" dirty="0"/>
          </a:p>
          <a:p>
            <a:pPr marL="285750" indent="-285750">
              <a:buFont typeface="Arial"/>
              <a:buChar char="•"/>
            </a:pPr>
            <a:r>
              <a:rPr lang="en-GB" sz="1800" b="0" dirty="0">
                <a:ea typeface="+mj-lt"/>
                <a:cs typeface="+mj-lt"/>
              </a:rPr>
              <a:t>Crop yield and production </a:t>
            </a:r>
            <a:endParaRPr lang="en-GB" sz="1800" dirty="0"/>
          </a:p>
          <a:p>
            <a:pPr marL="285750" indent="-285750">
              <a:buFont typeface="Arial"/>
              <a:buChar char="•"/>
            </a:pPr>
            <a:r>
              <a:rPr lang="en-GB" sz="1800" b="0" dirty="0">
                <a:ea typeface="+mj-lt"/>
                <a:cs typeface="+mj-lt"/>
              </a:rPr>
              <a:t>Revenue and cost </a:t>
            </a:r>
            <a:endParaRPr lang="en-GB" sz="1800" dirty="0"/>
          </a:p>
          <a:p>
            <a:pPr marL="285750" indent="-285750">
              <a:buFont typeface="Arial"/>
              <a:buChar char="•"/>
            </a:pPr>
            <a:r>
              <a:rPr lang="en-GB" sz="1800" b="0" dirty="0">
                <a:ea typeface="+mj-lt"/>
                <a:cs typeface="+mj-lt"/>
              </a:rPr>
              <a:t>Profit </a:t>
            </a:r>
            <a:endParaRPr lang="en-GB" sz="1800" dirty="0"/>
          </a:p>
          <a:p>
            <a:pPr marL="285750" indent="-285750">
              <a:buFont typeface="Arial"/>
              <a:buChar char="•"/>
            </a:pPr>
            <a:r>
              <a:rPr lang="en-GB" sz="1800" b="0" dirty="0">
                <a:ea typeface="+mj-lt"/>
                <a:cs typeface="+mj-lt"/>
              </a:rPr>
              <a:t>Disease and pest risk </a:t>
            </a:r>
            <a:br>
              <a:rPr lang="en-GB" sz="1800" b="0" dirty="0">
                <a:ea typeface="+mj-lt"/>
                <a:cs typeface="+mj-lt"/>
              </a:rPr>
            </a:br>
            <a:endParaRPr lang="en-GB" sz="1800" dirty="0"/>
          </a:p>
          <a:p>
            <a:r>
              <a:rPr lang="en-GB" sz="1800" dirty="0"/>
              <a:t>Project Workflow:</a:t>
            </a:r>
            <a:br>
              <a:rPr lang="en-GB" sz="1800" dirty="0"/>
            </a:br>
            <a:endParaRPr lang="en-GB" sz="1800" dirty="0"/>
          </a:p>
          <a:p>
            <a:r>
              <a:rPr lang="en-GB" sz="1800" dirty="0">
                <a:ea typeface="+mj-lt"/>
                <a:cs typeface="+mj-lt"/>
              </a:rPr>
              <a:t>Data Collection → Data Cleaning → EDA → Seasonal Analysis → Crop Analysis → Resource Analysis → Regional Analysis → Correlation → Statistical Testing → Visualization → Insights → Recommendations</a:t>
            </a:r>
            <a:endParaRPr lang="en-GB" sz="1800">
              <a:ea typeface="+mj-lt"/>
              <a:cs typeface="+mj-lt"/>
            </a:endParaRPr>
          </a:p>
          <a:p>
            <a:br>
              <a:rPr lang="en-GB" dirty="0"/>
            </a:br>
            <a:endParaRPr lang="en-IN" sz="180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622581" y="1441027"/>
            <a:ext cx="8864036" cy="3961801"/>
          </a:xfrm>
        </p:spPr>
        <p:txBody>
          <a:bodyPr vert="horz" lIns="91440" tIns="45720" rIns="91440" bIns="45720" rtlCol="0" anchor="t">
            <a:noAutofit/>
          </a:bodyPr>
          <a:lstStyle/>
          <a:p>
            <a:pPr marL="0" indent="0" algn="just">
              <a:buNone/>
            </a:pPr>
            <a:r>
              <a:rPr lang="en-IN" sz="1400" dirty="0">
                <a:ea typeface="+mn-lt"/>
                <a:cs typeface="+mn-lt"/>
              </a:rPr>
              <a:t>The insights generated by this project can potentially support:</a:t>
            </a:r>
            <a:endParaRPr lang="en-IN" sz="1400" dirty="0"/>
          </a:p>
          <a:p>
            <a:pPr marL="0" indent="0" algn="just">
              <a:buNone/>
            </a:pPr>
            <a:r>
              <a:rPr lang="en-IN" sz="1800" dirty="0"/>
              <a:t>🌾 Farmers</a:t>
            </a:r>
          </a:p>
          <a:p>
            <a:pPr algn="just"/>
            <a:r>
              <a:rPr lang="en-IN" sz="1400" dirty="0">
                <a:ea typeface="+mn-lt"/>
                <a:cs typeface="+mn-lt"/>
              </a:rPr>
              <a:t>Understand seasonal crop performance </a:t>
            </a:r>
            <a:endParaRPr lang="en-IN" sz="1400" dirty="0"/>
          </a:p>
          <a:p>
            <a:pPr algn="just"/>
            <a:r>
              <a:rPr lang="en-IN" sz="1400" dirty="0">
                <a:ea typeface="+mn-lt"/>
                <a:cs typeface="+mn-lt"/>
              </a:rPr>
              <a:t>Compare irrigation methods  </a:t>
            </a:r>
            <a:endParaRPr lang="en-IN" sz="1400" dirty="0"/>
          </a:p>
          <a:p>
            <a:pPr marL="0" indent="0" algn="just">
              <a:buNone/>
            </a:pPr>
            <a:r>
              <a:rPr lang="en-IN" sz="1000" dirty="0"/>
              <a:t>🏛</a:t>
            </a:r>
            <a:r>
              <a:rPr lang="en-IN" sz="1800" dirty="0"/>
              <a:t>️ Agricultural Planners</a:t>
            </a:r>
          </a:p>
          <a:p>
            <a:pPr algn="just"/>
            <a:r>
              <a:rPr lang="en-IN" sz="1400" dirty="0">
                <a:ea typeface="+mn-lt"/>
                <a:cs typeface="+mn-lt"/>
              </a:rPr>
              <a:t>Support seasonal agricultural planning </a:t>
            </a:r>
            <a:endParaRPr lang="en-IN" sz="1400" dirty="0"/>
          </a:p>
          <a:p>
            <a:pPr algn="just"/>
            <a:r>
              <a:rPr lang="en-IN" sz="1400" dirty="0">
                <a:ea typeface="+mn-lt"/>
                <a:cs typeface="+mn-lt"/>
              </a:rPr>
              <a:t>Identify regional variations </a:t>
            </a:r>
            <a:endParaRPr lang="en-IN" sz="1400"/>
          </a:p>
          <a:p>
            <a:pPr marL="0" indent="0" algn="just">
              <a:buNone/>
            </a:pPr>
            <a:r>
              <a:rPr lang="en-IN" sz="1600" dirty="0"/>
              <a:t>🔬 Agricultural Researchers</a:t>
            </a:r>
            <a:endParaRPr lang="en-IN" sz="1400" dirty="0"/>
          </a:p>
          <a:p>
            <a:pPr algn="just"/>
            <a:r>
              <a:rPr lang="en-IN" sz="1400" dirty="0">
                <a:ea typeface="+mn-lt"/>
                <a:cs typeface="+mn-lt"/>
              </a:rPr>
              <a:t>Study seasonal patterns </a:t>
            </a:r>
            <a:endParaRPr lang="en-IN" sz="1400" dirty="0"/>
          </a:p>
          <a:p>
            <a:pPr algn="just"/>
            <a:r>
              <a:rPr lang="en-IN" sz="1400" dirty="0" err="1">
                <a:ea typeface="+mn-lt"/>
                <a:cs typeface="+mn-lt"/>
              </a:rPr>
              <a:t>Analyze</a:t>
            </a:r>
            <a:r>
              <a:rPr lang="en-IN" sz="1400" dirty="0">
                <a:ea typeface="+mn-lt"/>
                <a:cs typeface="+mn-lt"/>
              </a:rPr>
              <a:t> environmental relationships </a:t>
            </a:r>
            <a:endParaRPr lang="en-IN" sz="1400" dirty="0"/>
          </a:p>
          <a:p>
            <a:pPr marL="0" indent="0" algn="just">
              <a:buNone/>
            </a:pPr>
            <a:r>
              <a:rPr lang="en-IN" sz="1800" dirty="0"/>
              <a:t>📊 Data Analysts</a:t>
            </a:r>
          </a:p>
          <a:p>
            <a:pPr algn="just"/>
            <a:r>
              <a:rPr lang="en-IN" sz="1400" dirty="0" err="1">
                <a:ea typeface="+mn-lt"/>
                <a:cs typeface="+mn-lt"/>
              </a:rPr>
              <a:t>Analyze</a:t>
            </a:r>
            <a:r>
              <a:rPr lang="en-IN" sz="1400" dirty="0">
                <a:ea typeface="+mn-lt"/>
                <a:cs typeface="+mn-lt"/>
              </a:rPr>
              <a:t> agricultural datasets </a:t>
            </a:r>
            <a:endParaRPr lang="en-IN" sz="1400" dirty="0"/>
          </a:p>
          <a:p>
            <a:pPr marL="0" indent="0" algn="just">
              <a:buNone/>
            </a:pPr>
            <a:r>
              <a:rPr lang="en-IN" sz="1800" dirty="0"/>
              <a:t>🎓 Students &amp; Researchers</a:t>
            </a:r>
          </a:p>
          <a:p>
            <a:pPr algn="just"/>
            <a:r>
              <a:rPr lang="en-IN" sz="1400" dirty="0">
                <a:ea typeface="+mn-lt"/>
                <a:cs typeface="+mn-lt"/>
              </a:rPr>
              <a:t>Learn real-world data analytics </a:t>
            </a:r>
            <a:endParaRPr lang="en-IN" sz="1400" dirty="0"/>
          </a:p>
          <a:p>
            <a:pPr algn="just">
              <a:lnSpc>
                <a:spcPct val="150000"/>
              </a:lnSpc>
            </a:pPr>
            <a:endParaRPr lang="en-IN" sz="14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5" name="Picture 4">
            <a:extLst>
              <a:ext uri="{FF2B5EF4-FFF2-40B4-BE49-F238E27FC236}">
                <a16:creationId xmlns:a16="http://schemas.microsoft.com/office/drawing/2014/main" id="{E6BB286B-3052-E37A-9DFE-8E827AFB01D6}"/>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2">
                                            <p:txEl>
                                              <p:pRg st="8" end="8"/>
                                            </p:txEl>
                                          </p:spTgt>
                                        </p:tgtEl>
                                        <p:attrNameLst>
                                          <p:attrName>style.visibility</p:attrName>
                                        </p:attrNameLst>
                                      </p:cBhvr>
                                      <p:to>
                                        <p:strVal val="visible"/>
                                      </p:to>
                                    </p:set>
                                    <p:animEffect transition="in" filter="fade">
                                      <p:cBhvr>
                                        <p:cTn id="70" dur="1000"/>
                                        <p:tgtEl>
                                          <p:spTgt spid="2">
                                            <p:txEl>
                                              <p:pRg st="8" end="8"/>
                                            </p:txEl>
                                          </p:spTgt>
                                        </p:tgtEl>
                                      </p:cBhvr>
                                    </p:animEffect>
                                    <p:anim calcmode="lin" valueType="num">
                                      <p:cBhvr>
                                        <p:cTn id="71" dur="1000" fill="hold"/>
                                        <p:tgtEl>
                                          <p:spTgt spid="2">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2">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
                                            <p:txEl>
                                              <p:pRg st="9" end="9"/>
                                            </p:txEl>
                                          </p:spTgt>
                                        </p:tgtEl>
                                        <p:attrNameLst>
                                          <p:attrName>style.visibility</p:attrName>
                                        </p:attrNameLst>
                                      </p:cBhvr>
                                      <p:to>
                                        <p:strVal val="visible"/>
                                      </p:to>
                                    </p:set>
                                    <p:animEffect transition="in" filter="fade">
                                      <p:cBhvr>
                                        <p:cTn id="77" dur="1000"/>
                                        <p:tgtEl>
                                          <p:spTgt spid="2">
                                            <p:txEl>
                                              <p:pRg st="9" end="9"/>
                                            </p:txEl>
                                          </p:spTgt>
                                        </p:tgtEl>
                                      </p:cBhvr>
                                    </p:animEffect>
                                    <p:anim calcmode="lin" valueType="num">
                                      <p:cBhvr>
                                        <p:cTn id="78" dur="1000" fill="hold"/>
                                        <p:tgtEl>
                                          <p:spTgt spid="2">
                                            <p:txEl>
                                              <p:pRg st="9" end="9"/>
                                            </p:txEl>
                                          </p:spTgt>
                                        </p:tgtEl>
                                        <p:attrNameLst>
                                          <p:attrName>ppt_x</p:attrName>
                                        </p:attrNameLst>
                                      </p:cBhvr>
                                      <p:tavLst>
                                        <p:tav tm="0">
                                          <p:val>
                                            <p:strVal val="#ppt_x"/>
                                          </p:val>
                                        </p:tav>
                                        <p:tav tm="100000">
                                          <p:val>
                                            <p:strVal val="#ppt_x"/>
                                          </p:val>
                                        </p:tav>
                                      </p:tavLst>
                                    </p:anim>
                                    <p:anim calcmode="lin" valueType="num">
                                      <p:cBhvr>
                                        <p:cTn id="79" dur="1000" fill="hold"/>
                                        <p:tgtEl>
                                          <p:spTgt spid="2">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2">
                                            <p:txEl>
                                              <p:pRg st="10" end="10"/>
                                            </p:txEl>
                                          </p:spTgt>
                                        </p:tgtEl>
                                        <p:attrNameLst>
                                          <p:attrName>style.visibility</p:attrName>
                                        </p:attrNameLst>
                                      </p:cBhvr>
                                      <p:to>
                                        <p:strVal val="visible"/>
                                      </p:to>
                                    </p:set>
                                    <p:animEffect transition="in" filter="fade">
                                      <p:cBhvr>
                                        <p:cTn id="84" dur="1000"/>
                                        <p:tgtEl>
                                          <p:spTgt spid="2">
                                            <p:txEl>
                                              <p:pRg st="10" end="10"/>
                                            </p:txEl>
                                          </p:spTgt>
                                        </p:tgtEl>
                                      </p:cBhvr>
                                    </p:animEffect>
                                    <p:anim calcmode="lin" valueType="num">
                                      <p:cBhvr>
                                        <p:cTn id="85" dur="1000" fill="hold"/>
                                        <p:tgtEl>
                                          <p:spTgt spid="2">
                                            <p:txEl>
                                              <p:pRg st="10" end="10"/>
                                            </p:txEl>
                                          </p:spTgt>
                                        </p:tgtEl>
                                        <p:attrNameLst>
                                          <p:attrName>ppt_x</p:attrName>
                                        </p:attrNameLst>
                                      </p:cBhvr>
                                      <p:tavLst>
                                        <p:tav tm="0">
                                          <p:val>
                                            <p:strVal val="#ppt_x"/>
                                          </p:val>
                                        </p:tav>
                                        <p:tav tm="100000">
                                          <p:val>
                                            <p:strVal val="#ppt_x"/>
                                          </p:val>
                                        </p:tav>
                                      </p:tavLst>
                                    </p:anim>
                                    <p:anim calcmode="lin" valueType="num">
                                      <p:cBhvr>
                                        <p:cTn id="86" dur="1000" fill="hold"/>
                                        <p:tgtEl>
                                          <p:spTgt spid="2">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2">
                                            <p:txEl>
                                              <p:pRg st="11" end="11"/>
                                            </p:txEl>
                                          </p:spTgt>
                                        </p:tgtEl>
                                        <p:attrNameLst>
                                          <p:attrName>style.visibility</p:attrName>
                                        </p:attrNameLst>
                                      </p:cBhvr>
                                      <p:to>
                                        <p:strVal val="visible"/>
                                      </p:to>
                                    </p:set>
                                    <p:animEffect transition="in" filter="fade">
                                      <p:cBhvr>
                                        <p:cTn id="91" dur="1000"/>
                                        <p:tgtEl>
                                          <p:spTgt spid="2">
                                            <p:txEl>
                                              <p:pRg st="11" end="11"/>
                                            </p:txEl>
                                          </p:spTgt>
                                        </p:tgtEl>
                                      </p:cBhvr>
                                    </p:animEffect>
                                    <p:anim calcmode="lin" valueType="num">
                                      <p:cBhvr>
                                        <p:cTn id="92" dur="1000" fill="hold"/>
                                        <p:tgtEl>
                                          <p:spTgt spid="2">
                                            <p:txEl>
                                              <p:pRg st="11" end="11"/>
                                            </p:txEl>
                                          </p:spTgt>
                                        </p:tgtEl>
                                        <p:attrNameLst>
                                          <p:attrName>ppt_x</p:attrName>
                                        </p:attrNameLst>
                                      </p:cBhvr>
                                      <p:tavLst>
                                        <p:tav tm="0">
                                          <p:val>
                                            <p:strVal val="#ppt_x"/>
                                          </p:val>
                                        </p:tav>
                                        <p:tav tm="100000">
                                          <p:val>
                                            <p:strVal val="#ppt_x"/>
                                          </p:val>
                                        </p:tav>
                                      </p:tavLst>
                                    </p:anim>
                                    <p:anim calcmode="lin" valueType="num">
                                      <p:cBhvr>
                                        <p:cTn id="93" dur="1000" fill="hold"/>
                                        <p:tgtEl>
                                          <p:spTgt spid="2">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2">
                                            <p:txEl>
                                              <p:pRg st="12" end="12"/>
                                            </p:txEl>
                                          </p:spTgt>
                                        </p:tgtEl>
                                        <p:attrNameLst>
                                          <p:attrName>style.visibility</p:attrName>
                                        </p:attrNameLst>
                                      </p:cBhvr>
                                      <p:to>
                                        <p:strVal val="visible"/>
                                      </p:to>
                                    </p:set>
                                    <p:animEffect transition="in" filter="fade">
                                      <p:cBhvr>
                                        <p:cTn id="98" dur="1000"/>
                                        <p:tgtEl>
                                          <p:spTgt spid="2">
                                            <p:txEl>
                                              <p:pRg st="12" end="12"/>
                                            </p:txEl>
                                          </p:spTgt>
                                        </p:tgtEl>
                                      </p:cBhvr>
                                    </p:animEffect>
                                    <p:anim calcmode="lin" valueType="num">
                                      <p:cBhvr>
                                        <p:cTn id="99" dur="1000" fill="hold"/>
                                        <p:tgtEl>
                                          <p:spTgt spid="2">
                                            <p:txEl>
                                              <p:pRg st="12" end="12"/>
                                            </p:txEl>
                                          </p:spTgt>
                                        </p:tgtEl>
                                        <p:attrNameLst>
                                          <p:attrName>ppt_x</p:attrName>
                                        </p:attrNameLst>
                                      </p:cBhvr>
                                      <p:tavLst>
                                        <p:tav tm="0">
                                          <p:val>
                                            <p:strVal val="#ppt_x"/>
                                          </p:val>
                                        </p:tav>
                                        <p:tav tm="100000">
                                          <p:val>
                                            <p:strVal val="#ppt_x"/>
                                          </p:val>
                                        </p:tav>
                                      </p:tavLst>
                                    </p:anim>
                                    <p:anim calcmode="lin" valueType="num">
                                      <p:cBhvr>
                                        <p:cTn id="100" dur="1000" fill="hold"/>
                                        <p:tgtEl>
                                          <p:spTgt spid="2">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2">
                                            <p:txEl>
                                              <p:pRg st="13" end="13"/>
                                            </p:txEl>
                                          </p:spTgt>
                                        </p:tgtEl>
                                        <p:attrNameLst>
                                          <p:attrName>style.visibility</p:attrName>
                                        </p:attrNameLst>
                                      </p:cBhvr>
                                      <p:to>
                                        <p:strVal val="visible"/>
                                      </p:to>
                                    </p:set>
                                    <p:animEffect transition="in" filter="fade">
                                      <p:cBhvr>
                                        <p:cTn id="105" dur="1000"/>
                                        <p:tgtEl>
                                          <p:spTgt spid="2">
                                            <p:txEl>
                                              <p:pRg st="13" end="13"/>
                                            </p:txEl>
                                          </p:spTgt>
                                        </p:tgtEl>
                                      </p:cBhvr>
                                    </p:animEffect>
                                    <p:anim calcmode="lin" valueType="num">
                                      <p:cBhvr>
                                        <p:cTn id="106" dur="1000" fill="hold"/>
                                        <p:tgtEl>
                                          <p:spTgt spid="2">
                                            <p:txEl>
                                              <p:pRg st="13" end="13"/>
                                            </p:txEl>
                                          </p:spTgt>
                                        </p:tgtEl>
                                        <p:attrNameLst>
                                          <p:attrName>ppt_x</p:attrName>
                                        </p:attrNameLst>
                                      </p:cBhvr>
                                      <p:tavLst>
                                        <p:tav tm="0">
                                          <p:val>
                                            <p:strVal val="#ppt_x"/>
                                          </p:val>
                                        </p:tav>
                                        <p:tav tm="100000">
                                          <p:val>
                                            <p:strVal val="#ppt_x"/>
                                          </p:val>
                                        </p:tav>
                                      </p:tavLst>
                                    </p:anim>
                                    <p:anim calcmode="lin" valueType="num">
                                      <p:cBhvr>
                                        <p:cTn id="107" dur="1000" fill="hold"/>
                                        <p:tgtEl>
                                          <p:spTgt spid="2">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627070" y="1274409"/>
            <a:ext cx="10939891" cy="5430354"/>
          </a:xfrm>
        </p:spPr>
        <p:txBody>
          <a:bodyPr vert="horz" lIns="91440" tIns="45720" rIns="91440" bIns="45720" rtlCol="0" anchor="t">
            <a:noAutofit/>
          </a:bodyPr>
          <a:lstStyle/>
          <a:p>
            <a:pPr lvl="1" indent="-342900">
              <a:lnSpc>
                <a:spcPct val="100000"/>
              </a:lnSpc>
              <a:buNone/>
            </a:pPr>
            <a:r>
              <a:rPr lang="en-IN" sz="1800" dirty="0"/>
              <a:t>Programming Language</a:t>
            </a:r>
            <a:endParaRPr lang="en-US" sz="1800"/>
          </a:p>
          <a:p>
            <a:pPr lvl="1" indent="-342900">
              <a:lnSpc>
                <a:spcPct val="100000"/>
              </a:lnSpc>
              <a:buNone/>
            </a:pPr>
            <a:r>
              <a:rPr lang="en-IN" sz="1800" dirty="0">
                <a:ea typeface="+mn-lt"/>
                <a:cs typeface="+mn-lt"/>
              </a:rPr>
              <a:t>🐍 </a:t>
            </a:r>
            <a:r>
              <a:rPr lang="en-IN" sz="1800" b="1" dirty="0">
                <a:ea typeface="+mn-lt"/>
                <a:cs typeface="+mn-lt"/>
              </a:rPr>
              <a:t>Python</a:t>
            </a:r>
            <a:endParaRPr lang="en-IN" sz="1800" dirty="0">
              <a:ea typeface="+mn-lt"/>
              <a:cs typeface="+mn-lt"/>
            </a:endParaRPr>
          </a:p>
          <a:p>
            <a:pPr lvl="1" indent="-342900">
              <a:lnSpc>
                <a:spcPct val="100000"/>
              </a:lnSpc>
              <a:buNone/>
            </a:pPr>
            <a:r>
              <a:rPr lang="en-IN" sz="1800" dirty="0"/>
              <a:t>Development Platform</a:t>
            </a:r>
          </a:p>
          <a:p>
            <a:pPr lvl="1" indent="-342900">
              <a:lnSpc>
                <a:spcPct val="100000"/>
              </a:lnSpc>
              <a:buNone/>
            </a:pPr>
            <a:r>
              <a:rPr lang="en-IN" sz="1800" dirty="0">
                <a:ea typeface="+mn-lt"/>
                <a:cs typeface="+mn-lt"/>
              </a:rPr>
              <a:t>☁️ </a:t>
            </a:r>
            <a:r>
              <a:rPr lang="en-IN" sz="1800" b="1" dirty="0">
                <a:ea typeface="+mn-lt"/>
                <a:cs typeface="+mn-lt"/>
              </a:rPr>
              <a:t>Google </a:t>
            </a:r>
            <a:r>
              <a:rPr lang="en-IN" sz="1800" b="1" dirty="0" err="1">
                <a:ea typeface="+mn-lt"/>
                <a:cs typeface="+mn-lt"/>
              </a:rPr>
              <a:t>Colab</a:t>
            </a:r>
            <a:endParaRPr lang="en-IN" sz="1800" dirty="0">
              <a:ea typeface="+mn-lt"/>
              <a:cs typeface="+mn-lt"/>
            </a:endParaRPr>
          </a:p>
          <a:p>
            <a:pPr lvl="1" indent="-342900">
              <a:lnSpc>
                <a:spcPct val="100000"/>
              </a:lnSpc>
              <a:buNone/>
            </a:pPr>
            <a:r>
              <a:rPr lang="en-IN" sz="1800" dirty="0"/>
              <a:t>Data Analysis</a:t>
            </a:r>
          </a:p>
          <a:p>
            <a:pPr lvl="1">
              <a:buFont typeface="Wingdings,sans-serif"/>
              <a:buChar char="§"/>
            </a:pPr>
            <a:r>
              <a:rPr lang="en-IN" sz="1800" dirty="0">
                <a:ea typeface="+mn-lt"/>
                <a:cs typeface="+mn-lt"/>
              </a:rPr>
              <a:t>Pandas, NumPy, Data, Visualization, Matplotlib, </a:t>
            </a:r>
            <a:endParaRPr lang="en-US" sz="1800" dirty="0">
              <a:solidFill>
                <a:srgbClr val="000000"/>
              </a:solidFill>
              <a:ea typeface="+mn-lt"/>
              <a:cs typeface="+mn-lt"/>
            </a:endParaRPr>
          </a:p>
          <a:p>
            <a:pPr marL="400050" lvl="1" indent="0">
              <a:buNone/>
            </a:pPr>
            <a:r>
              <a:rPr lang="en-IN" sz="1800" dirty="0">
                <a:solidFill>
                  <a:srgbClr val="404040"/>
                </a:solidFill>
                <a:ea typeface="+mn-lt"/>
                <a:cs typeface="+mn-lt"/>
              </a:rPr>
              <a:t>Seaborn, Statistical, </a:t>
            </a:r>
            <a:r>
              <a:rPr lang="en-IN" sz="1800" dirty="0" err="1">
                <a:solidFill>
                  <a:srgbClr val="404040"/>
                </a:solidFill>
                <a:ea typeface="+mn-lt"/>
                <a:cs typeface="+mn-lt"/>
              </a:rPr>
              <a:t>AnalysisSciPy</a:t>
            </a:r>
            <a:r>
              <a:rPr lang="en-IN" sz="1800" dirty="0">
                <a:solidFill>
                  <a:srgbClr val="404040"/>
                </a:solidFill>
                <a:ea typeface="+mn-lt"/>
                <a:cs typeface="+mn-lt"/>
              </a:rPr>
              <a:t>, One-Way ANOVA </a:t>
            </a:r>
            <a:endParaRPr lang="en-US" sz="1800" dirty="0">
              <a:solidFill>
                <a:srgbClr val="000000"/>
              </a:solidFill>
              <a:ea typeface="+mn-lt"/>
              <a:cs typeface="+mn-lt"/>
            </a:endParaRPr>
          </a:p>
          <a:p>
            <a:pPr marL="400050" lvl="1" indent="0">
              <a:buNone/>
            </a:pPr>
            <a:r>
              <a:rPr lang="en-IN" dirty="0">
                <a:solidFill>
                  <a:srgbClr val="404040"/>
                </a:solidFill>
                <a:ea typeface="+mn-lt"/>
                <a:cs typeface="+mn-lt"/>
              </a:rPr>
              <a:t>Documentation</a:t>
            </a:r>
            <a:endParaRPr lang="en-US" dirty="0">
              <a:solidFill>
                <a:srgbClr val="000000"/>
              </a:solidFill>
              <a:ea typeface="+mn-lt"/>
              <a:cs typeface="+mn-lt"/>
            </a:endParaRPr>
          </a:p>
          <a:p>
            <a:pPr marL="1028700" lvl="1" indent="-342900">
              <a:buFont typeface="Courier New,monospace"/>
              <a:buChar char="o"/>
            </a:pPr>
            <a:r>
              <a:rPr lang="en-IN" sz="1800" dirty="0">
                <a:solidFill>
                  <a:srgbClr val="404040"/>
                </a:solidFill>
                <a:ea typeface="+mn-lt"/>
                <a:cs typeface="+mn-lt"/>
              </a:rPr>
              <a:t>Jupyter Notebook </a:t>
            </a:r>
            <a:endParaRPr lang="en-US" sz="1800" dirty="0">
              <a:solidFill>
                <a:srgbClr val="000000"/>
              </a:solidFill>
              <a:ea typeface="+mn-lt"/>
              <a:cs typeface="+mn-lt"/>
            </a:endParaRPr>
          </a:p>
          <a:p>
            <a:pPr marL="1028700" lvl="1" indent="-342900">
              <a:buFont typeface="Courier New,monospace"/>
              <a:buChar char="o"/>
            </a:pPr>
            <a:r>
              <a:rPr lang="en-IN" sz="1800" dirty="0">
                <a:solidFill>
                  <a:srgbClr val="404040"/>
                </a:solidFill>
                <a:ea typeface="+mn-lt"/>
                <a:cs typeface="+mn-lt"/>
              </a:rPr>
              <a:t>GitHub </a:t>
            </a:r>
            <a:endParaRPr lang="en-US" sz="1800" dirty="0">
              <a:solidFill>
                <a:srgbClr val="000000"/>
              </a:solidFill>
              <a:ea typeface="+mn-lt"/>
              <a:cs typeface="+mn-lt"/>
            </a:endParaRPr>
          </a:p>
          <a:p>
            <a:pPr lvl="1" indent="0">
              <a:buNone/>
            </a:pPr>
            <a:r>
              <a:rPr lang="en-IN" sz="2400" dirty="0">
                <a:solidFill>
                  <a:srgbClr val="404040"/>
                </a:solidFill>
                <a:ea typeface="+mn-lt"/>
                <a:cs typeface="+mn-lt"/>
              </a:rPr>
              <a:t>Dataset</a:t>
            </a:r>
            <a:endParaRPr lang="en-US" sz="2400">
              <a:solidFill>
                <a:srgbClr val="000000"/>
              </a:solidFill>
              <a:ea typeface="+mn-lt"/>
              <a:cs typeface="+mn-lt"/>
            </a:endParaRPr>
          </a:p>
          <a:p>
            <a:pPr lvl="1" indent="-342900">
              <a:buNone/>
            </a:pPr>
            <a:r>
              <a:rPr lang="en-IN" sz="1800" b="1" dirty="0">
                <a:solidFill>
                  <a:srgbClr val="404040"/>
                </a:solidFill>
                <a:ea typeface="+mn-lt"/>
                <a:cs typeface="+mn-lt"/>
              </a:rPr>
              <a:t>CSV — Seasonal Agriculture Performance Dataset</a:t>
            </a:r>
            <a:endParaRPr lang="en-IN" dirty="0"/>
          </a:p>
          <a:p>
            <a:pPr lvl="1">
              <a:buFont typeface="Wingdings,sans-serif"/>
              <a:buChar char="§"/>
            </a:pPr>
            <a:endParaRPr lang="en-IN" sz="1800" dirty="0">
              <a:solidFill>
                <a:srgbClr val="404040"/>
              </a:solidFill>
              <a:ea typeface="+mn-lt"/>
              <a:cs typeface="+mn-lt"/>
            </a:endParaRPr>
          </a:p>
          <a:p>
            <a:pPr lvl="1" indent="-342900">
              <a:buFont typeface="Courier New,monospace"/>
              <a:buChar char="o"/>
            </a:pPr>
            <a:endParaRPr lang="en-IN" sz="1800" dirty="0">
              <a:solidFill>
                <a:srgbClr val="404040"/>
              </a:solidFill>
              <a:ea typeface="+mn-lt"/>
              <a:cs typeface="+mn-lt"/>
            </a:endParaRPr>
          </a:p>
          <a:p>
            <a:pPr lvl="1">
              <a:buFont typeface="Wingdings,sans-serif"/>
              <a:buChar char="§"/>
            </a:pPr>
            <a:endParaRPr lang="en-IN" sz="1800" dirty="0">
              <a:solidFill>
                <a:srgbClr val="404040"/>
              </a:solidFill>
              <a:ea typeface="+mn-lt"/>
              <a:cs typeface="+mn-lt"/>
            </a:endParaRPr>
          </a:p>
          <a:p>
            <a:pPr lvl="1">
              <a:buFont typeface="Wingdings,sans-serif"/>
              <a:buChar char="§"/>
            </a:pPr>
            <a:endParaRPr lang="en-IN" sz="1800" dirty="0">
              <a:solidFill>
                <a:srgbClr val="404040"/>
              </a:solidFill>
              <a:ea typeface="+mn-lt"/>
              <a:cs typeface="+mn-lt"/>
            </a:endParaRPr>
          </a:p>
          <a:p>
            <a:pPr lvl="1">
              <a:buFont typeface="Wingdings,sans-serif"/>
              <a:buChar char="§"/>
            </a:pPr>
            <a:endParaRPr lang="en-IN" sz="1800" dirty="0">
              <a:ea typeface="+mn-lt"/>
              <a:cs typeface="+mn-lt"/>
            </a:endParaRPr>
          </a:p>
          <a:p>
            <a:pPr lvl="1" indent="-342900">
              <a:buFont typeface="Courier New,monospace"/>
              <a:buChar char="o"/>
            </a:pPr>
            <a:endParaRPr lang="en-IN" sz="1800" dirty="0">
              <a:ea typeface="+mn-lt"/>
              <a:cs typeface="+mn-lt"/>
            </a:endParaRPr>
          </a:p>
          <a:p>
            <a:pPr lvl="1">
              <a:lnSpc>
                <a:spcPct val="100000"/>
              </a:lnSpc>
              <a:buFont typeface="Wingdings"/>
              <a:buChar char="§"/>
            </a:pPr>
            <a:endParaRPr lang="en-IN" sz="1800" dirty="0"/>
          </a:p>
          <a:p>
            <a:pPr marL="400050" lvl="1" indent="0">
              <a:buNone/>
            </a:pPr>
            <a:endParaRPr lang="en-IN" sz="1800"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
        <p:nvSpPr>
          <p:cNvPr id="3" name="TextBox 2">
            <a:extLst>
              <a:ext uri="{FF2B5EF4-FFF2-40B4-BE49-F238E27FC236}">
                <a16:creationId xmlns:a16="http://schemas.microsoft.com/office/drawing/2014/main" id="{CC5D8C13-F54A-3073-5A29-D15C15D9CC38}"/>
              </a:ext>
            </a:extLst>
          </p:cNvPr>
          <p:cNvSpPr txBox="1"/>
          <p:nvPr/>
        </p:nvSpPr>
        <p:spPr>
          <a:xfrm>
            <a:off x="2679290" y="2851354"/>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7">
                                            <p:txEl>
                                              <p:pRg st="1" end="1"/>
                                            </p:txEl>
                                          </p:spTgt>
                                        </p:tgtEl>
                                        <p:attrNameLst>
                                          <p:attrName>style.visibility</p:attrName>
                                        </p:attrNameLst>
                                      </p:cBhvr>
                                      <p:to>
                                        <p:strVal val="visible"/>
                                      </p:to>
                                    </p:set>
                                    <p:animEffect transition="in" filter="fade">
                                      <p:cBhvr>
                                        <p:cTn id="19" dur="1000"/>
                                        <p:tgtEl>
                                          <p:spTgt spid="7">
                                            <p:txEl>
                                              <p:pRg st="1" end="1"/>
                                            </p:txEl>
                                          </p:spTgt>
                                        </p:tgtEl>
                                      </p:cBhvr>
                                    </p:animEffect>
                                    <p:anim calcmode="lin" valueType="num">
                                      <p:cBhvr>
                                        <p:cTn id="20"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1" dur="1000" fill="hold"/>
                                        <p:tgtEl>
                                          <p:spTgt spid="7">
                                            <p:txEl>
                                              <p:pRg st="1" end="1"/>
                                            </p:txEl>
                                          </p:spTgt>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7">
                                            <p:txEl>
                                              <p:pRg st="2" end="2"/>
                                            </p:txEl>
                                          </p:spTgt>
                                        </p:tgtEl>
                                        <p:attrNameLst>
                                          <p:attrName>style.visibility</p:attrName>
                                        </p:attrNameLst>
                                      </p:cBhvr>
                                      <p:to>
                                        <p:strVal val="visible"/>
                                      </p:to>
                                    </p:set>
                                    <p:animEffect transition="in" filter="fade">
                                      <p:cBhvr>
                                        <p:cTn id="24" dur="1000"/>
                                        <p:tgtEl>
                                          <p:spTgt spid="7">
                                            <p:txEl>
                                              <p:pRg st="2" end="2"/>
                                            </p:txEl>
                                          </p:spTgt>
                                        </p:tgtEl>
                                      </p:cBhvr>
                                    </p:animEffect>
                                    <p:anim calcmode="lin" valueType="num">
                                      <p:cBhvr>
                                        <p:cTn id="25"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3" end="3"/>
                                            </p:txEl>
                                          </p:spTgt>
                                        </p:tgtEl>
                                        <p:attrNameLst>
                                          <p:attrName>style.visibility</p:attrName>
                                        </p:attrNameLst>
                                      </p:cBhvr>
                                      <p:to>
                                        <p:strVal val="visible"/>
                                      </p:to>
                                    </p:set>
                                    <p:animEffect transition="in" filter="fade">
                                      <p:cBhvr>
                                        <p:cTn id="29" dur="1000"/>
                                        <p:tgtEl>
                                          <p:spTgt spid="7">
                                            <p:txEl>
                                              <p:pRg st="3" end="3"/>
                                            </p:txEl>
                                          </p:spTgt>
                                        </p:tgtEl>
                                      </p:cBhvr>
                                    </p:animEffect>
                                    <p:anim calcmode="lin" valueType="num">
                                      <p:cBhvr>
                                        <p:cTn id="30"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4" end="4"/>
                                            </p:txEl>
                                          </p:spTgt>
                                        </p:tgtEl>
                                        <p:attrNameLst>
                                          <p:attrName>style.visibility</p:attrName>
                                        </p:attrNameLst>
                                      </p:cBhvr>
                                      <p:to>
                                        <p:strVal val="visible"/>
                                      </p:to>
                                    </p:set>
                                    <p:animEffect transition="in" filter="fade">
                                      <p:cBhvr>
                                        <p:cTn id="34" dur="1000"/>
                                        <p:tgtEl>
                                          <p:spTgt spid="7">
                                            <p:txEl>
                                              <p:pRg st="4" end="4"/>
                                            </p:txEl>
                                          </p:spTgt>
                                        </p:tgtEl>
                                      </p:cBhvr>
                                    </p:animEffect>
                                    <p:anim calcmode="lin" valueType="num">
                                      <p:cBhvr>
                                        <p:cTn id="35"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5" end="5"/>
                                            </p:txEl>
                                          </p:spTgt>
                                        </p:tgtEl>
                                        <p:attrNameLst>
                                          <p:attrName>style.visibility</p:attrName>
                                        </p:attrNameLst>
                                      </p:cBhvr>
                                      <p:to>
                                        <p:strVal val="visible"/>
                                      </p:to>
                                    </p:set>
                                    <p:animEffect transition="in" filter="fade">
                                      <p:cBhvr>
                                        <p:cTn id="39" dur="1000"/>
                                        <p:tgtEl>
                                          <p:spTgt spid="7">
                                            <p:txEl>
                                              <p:pRg st="5" end="5"/>
                                            </p:txEl>
                                          </p:spTgt>
                                        </p:tgtEl>
                                      </p:cBhvr>
                                    </p:animEffect>
                                    <p:anim calcmode="lin" valueType="num">
                                      <p:cBhvr>
                                        <p:cTn id="4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7">
                                            <p:txEl>
                                              <p:pRg st="6" end="6"/>
                                            </p:txEl>
                                          </p:spTgt>
                                        </p:tgtEl>
                                        <p:attrNameLst>
                                          <p:attrName>style.visibility</p:attrName>
                                        </p:attrNameLst>
                                      </p:cBhvr>
                                      <p:to>
                                        <p:strVal val="visible"/>
                                      </p:to>
                                    </p:set>
                                    <p:animEffect transition="in" filter="fade">
                                      <p:cBhvr>
                                        <p:cTn id="44" dur="1000"/>
                                        <p:tgtEl>
                                          <p:spTgt spid="7">
                                            <p:txEl>
                                              <p:pRg st="6" end="6"/>
                                            </p:txEl>
                                          </p:spTgt>
                                        </p:tgtEl>
                                      </p:cBhvr>
                                    </p:animEffect>
                                    <p:anim calcmode="lin" valueType="num">
                                      <p:cBhvr>
                                        <p:cTn id="45"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6" dur="1000" fill="hold"/>
                                        <p:tgtEl>
                                          <p:spTgt spid="7">
                                            <p:txEl>
                                              <p:pRg st="6" end="6"/>
                                            </p:txEl>
                                          </p:spTgt>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7">
                                            <p:txEl>
                                              <p:pRg st="7" end="7"/>
                                            </p:txEl>
                                          </p:spTgt>
                                        </p:tgtEl>
                                        <p:attrNameLst>
                                          <p:attrName>style.visibility</p:attrName>
                                        </p:attrNameLst>
                                      </p:cBhvr>
                                      <p:to>
                                        <p:strVal val="visible"/>
                                      </p:to>
                                    </p:set>
                                    <p:animEffect transition="in" filter="fade">
                                      <p:cBhvr>
                                        <p:cTn id="49" dur="1000"/>
                                        <p:tgtEl>
                                          <p:spTgt spid="7">
                                            <p:txEl>
                                              <p:pRg st="7" end="7"/>
                                            </p:txEl>
                                          </p:spTgt>
                                        </p:tgtEl>
                                      </p:cBhvr>
                                    </p:animEffect>
                                    <p:anim calcmode="lin" valueType="num">
                                      <p:cBhvr>
                                        <p:cTn id="50"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7" end="7"/>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7">
                                            <p:txEl>
                                              <p:pRg st="8" end="8"/>
                                            </p:txEl>
                                          </p:spTgt>
                                        </p:tgtEl>
                                        <p:attrNameLst>
                                          <p:attrName>style.visibility</p:attrName>
                                        </p:attrNameLst>
                                      </p:cBhvr>
                                      <p:to>
                                        <p:strVal val="visible"/>
                                      </p:to>
                                    </p:set>
                                    <p:animEffect transition="in" filter="fade">
                                      <p:cBhvr>
                                        <p:cTn id="54" dur="1000"/>
                                        <p:tgtEl>
                                          <p:spTgt spid="7">
                                            <p:txEl>
                                              <p:pRg st="8" end="8"/>
                                            </p:txEl>
                                          </p:spTgt>
                                        </p:tgtEl>
                                      </p:cBhvr>
                                    </p:animEffect>
                                    <p:anim calcmode="lin" valueType="num">
                                      <p:cBhvr>
                                        <p:cTn id="55"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56" dur="1000" fill="hold"/>
                                        <p:tgtEl>
                                          <p:spTgt spid="7">
                                            <p:txEl>
                                              <p:pRg st="8" end="8"/>
                                            </p:txEl>
                                          </p:spTgt>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7">
                                            <p:txEl>
                                              <p:pRg st="9" end="9"/>
                                            </p:txEl>
                                          </p:spTgt>
                                        </p:tgtEl>
                                        <p:attrNameLst>
                                          <p:attrName>style.visibility</p:attrName>
                                        </p:attrNameLst>
                                      </p:cBhvr>
                                      <p:to>
                                        <p:strVal val="visible"/>
                                      </p:to>
                                    </p:set>
                                    <p:animEffect transition="in" filter="fade">
                                      <p:cBhvr>
                                        <p:cTn id="59" dur="1000"/>
                                        <p:tgtEl>
                                          <p:spTgt spid="7">
                                            <p:txEl>
                                              <p:pRg st="9" end="9"/>
                                            </p:txEl>
                                          </p:spTgt>
                                        </p:tgtEl>
                                      </p:cBhvr>
                                    </p:animEffect>
                                    <p:anim calcmode="lin" valueType="num">
                                      <p:cBhvr>
                                        <p:cTn id="60" dur="1000" fill="hold"/>
                                        <p:tgtEl>
                                          <p:spTgt spid="7">
                                            <p:txEl>
                                              <p:pRg st="9" end="9"/>
                                            </p:txEl>
                                          </p:spTgt>
                                        </p:tgtEl>
                                        <p:attrNameLst>
                                          <p:attrName>ppt_x</p:attrName>
                                        </p:attrNameLst>
                                      </p:cBhvr>
                                      <p:tavLst>
                                        <p:tav tm="0">
                                          <p:val>
                                            <p:strVal val="#ppt_x"/>
                                          </p:val>
                                        </p:tav>
                                        <p:tav tm="100000">
                                          <p:val>
                                            <p:strVal val="#ppt_x"/>
                                          </p:val>
                                        </p:tav>
                                      </p:tavLst>
                                    </p:anim>
                                    <p:anim calcmode="lin" valueType="num">
                                      <p:cBhvr>
                                        <p:cTn id="61" dur="1000" fill="hold"/>
                                        <p:tgtEl>
                                          <p:spTgt spid="7">
                                            <p:txEl>
                                              <p:pRg st="9" end="9"/>
                                            </p:txEl>
                                          </p:spTgt>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7">
                                            <p:txEl>
                                              <p:pRg st="10" end="10"/>
                                            </p:txEl>
                                          </p:spTgt>
                                        </p:tgtEl>
                                        <p:attrNameLst>
                                          <p:attrName>style.visibility</p:attrName>
                                        </p:attrNameLst>
                                      </p:cBhvr>
                                      <p:to>
                                        <p:strVal val="visible"/>
                                      </p:to>
                                    </p:set>
                                    <p:animEffect transition="in" filter="fade">
                                      <p:cBhvr>
                                        <p:cTn id="64" dur="1000"/>
                                        <p:tgtEl>
                                          <p:spTgt spid="7">
                                            <p:txEl>
                                              <p:pRg st="10" end="10"/>
                                            </p:txEl>
                                          </p:spTgt>
                                        </p:tgtEl>
                                      </p:cBhvr>
                                    </p:animEffect>
                                    <p:anim calcmode="lin" valueType="num">
                                      <p:cBhvr>
                                        <p:cTn id="65" dur="1000" fill="hold"/>
                                        <p:tgtEl>
                                          <p:spTgt spid="7">
                                            <p:txEl>
                                              <p:pRg st="10" end="10"/>
                                            </p:txEl>
                                          </p:spTgt>
                                        </p:tgtEl>
                                        <p:attrNameLst>
                                          <p:attrName>ppt_x</p:attrName>
                                        </p:attrNameLst>
                                      </p:cBhvr>
                                      <p:tavLst>
                                        <p:tav tm="0">
                                          <p:val>
                                            <p:strVal val="#ppt_x"/>
                                          </p:val>
                                        </p:tav>
                                        <p:tav tm="100000">
                                          <p:val>
                                            <p:strVal val="#ppt_x"/>
                                          </p:val>
                                        </p:tav>
                                      </p:tavLst>
                                    </p:anim>
                                    <p:anim calcmode="lin" valueType="num">
                                      <p:cBhvr>
                                        <p:cTn id="66" dur="1000" fill="hold"/>
                                        <p:tgtEl>
                                          <p:spTgt spid="7">
                                            <p:txEl>
                                              <p:pRg st="10" end="10"/>
                                            </p:txEl>
                                          </p:spTgt>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7">
                                            <p:txEl>
                                              <p:pRg st="11" end="11"/>
                                            </p:txEl>
                                          </p:spTgt>
                                        </p:tgtEl>
                                        <p:attrNameLst>
                                          <p:attrName>style.visibility</p:attrName>
                                        </p:attrNameLst>
                                      </p:cBhvr>
                                      <p:to>
                                        <p:strVal val="visible"/>
                                      </p:to>
                                    </p:set>
                                    <p:animEffect transition="in" filter="fade">
                                      <p:cBhvr>
                                        <p:cTn id="69" dur="1000"/>
                                        <p:tgtEl>
                                          <p:spTgt spid="7">
                                            <p:txEl>
                                              <p:pRg st="11" end="11"/>
                                            </p:txEl>
                                          </p:spTgt>
                                        </p:tgtEl>
                                      </p:cBhvr>
                                    </p:animEffect>
                                    <p:anim calcmode="lin" valueType="num">
                                      <p:cBhvr>
                                        <p:cTn id="70" dur="1000" fill="hold"/>
                                        <p:tgtEl>
                                          <p:spTgt spid="7">
                                            <p:txEl>
                                              <p:pRg st="11" end="11"/>
                                            </p:txEl>
                                          </p:spTgt>
                                        </p:tgtEl>
                                        <p:attrNameLst>
                                          <p:attrName>ppt_x</p:attrName>
                                        </p:attrNameLst>
                                      </p:cBhvr>
                                      <p:tavLst>
                                        <p:tav tm="0">
                                          <p:val>
                                            <p:strVal val="#ppt_x"/>
                                          </p:val>
                                        </p:tav>
                                        <p:tav tm="100000">
                                          <p:val>
                                            <p:strVal val="#ppt_x"/>
                                          </p:val>
                                        </p:tav>
                                      </p:tavLst>
                                    </p:anim>
                                    <p:anim calcmode="lin" valueType="num">
                                      <p:cBhvr>
                                        <p:cTn id="71" dur="1000" fill="hold"/>
                                        <p:tgtEl>
                                          <p:spTgt spid="7">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29FC5EA7-6DA8-D829-B342-8248FFAD3ACE}"/>
              </a:ext>
            </a:extLst>
          </p:cNvPr>
          <p:cNvPicPr>
            <a:picLocks noChangeAspect="1"/>
          </p:cNvPicPr>
          <p:nvPr/>
        </p:nvPicPr>
        <p:blipFill>
          <a:blip r:embed="rId3"/>
          <a:stretch>
            <a:fillRect/>
          </a:stretch>
        </p:blipFill>
        <p:spPr>
          <a:xfrm>
            <a:off x="4588624" y="922757"/>
            <a:ext cx="4840676" cy="4408637"/>
          </a:xfrm>
          <a:prstGeom prst="rect">
            <a:avLst/>
          </a:prstGeom>
        </p:spPr>
      </p:pic>
      <p:sp>
        <p:nvSpPr>
          <p:cNvPr id="3" name="TextBox 2">
            <a:extLst>
              <a:ext uri="{FF2B5EF4-FFF2-40B4-BE49-F238E27FC236}">
                <a16:creationId xmlns:a16="http://schemas.microsoft.com/office/drawing/2014/main" id="{28BB233C-4323-7113-C5CD-356D14B88DE9}"/>
              </a:ext>
            </a:extLst>
          </p:cNvPr>
          <p:cNvSpPr txBox="1"/>
          <p:nvPr/>
        </p:nvSpPr>
        <p:spPr>
          <a:xfrm>
            <a:off x="681362" y="1441174"/>
            <a:ext cx="3905014" cy="477355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nSpc>
                <a:spcPct val="150000"/>
              </a:lnSpc>
            </a:pPr>
            <a:r>
              <a:rPr lang="en-US" sz="1700" dirty="0"/>
              <a:t>RESULTS</a:t>
            </a:r>
            <a:endParaRPr lang="en-US"/>
          </a:p>
          <a:p>
            <a:pPr>
              <a:lnSpc>
                <a:spcPct val="150000"/>
              </a:lnSpc>
            </a:pPr>
            <a:endParaRPr lang="en-US" sz="1700" dirty="0"/>
          </a:p>
          <a:p>
            <a:pPr>
              <a:lnSpc>
                <a:spcPct val="150000"/>
              </a:lnSpc>
            </a:pPr>
            <a:r>
              <a:rPr lang="en-US" sz="1700" dirty="0"/>
              <a:t>Dataset overview</a:t>
            </a:r>
          </a:p>
          <a:p>
            <a:pPr>
              <a:lnSpc>
                <a:spcPct val="150000"/>
              </a:lnSpc>
            </a:pPr>
            <a:r>
              <a:rPr lang="en-US" sz="1700" dirty="0"/>
              <a:t>• 4,000 farm records</a:t>
            </a:r>
          </a:p>
          <a:p>
            <a:pPr>
              <a:lnSpc>
                <a:spcPct val="150000"/>
              </a:lnSpc>
            </a:pPr>
            <a:r>
              <a:rPr lang="en-US" sz="1700" dirty="0"/>
              <a:t>• 28 variables</a:t>
            </a:r>
          </a:p>
          <a:p>
            <a:pPr>
              <a:lnSpc>
                <a:spcPct val="150000"/>
              </a:lnSpc>
            </a:pPr>
            <a:r>
              <a:rPr lang="en-US" sz="1700" dirty="0"/>
              <a:t>• 3 seasons: Kharif, Rabi and Zaid</a:t>
            </a:r>
          </a:p>
          <a:p>
            <a:pPr>
              <a:lnSpc>
                <a:spcPct val="150000"/>
              </a:lnSpc>
            </a:pPr>
            <a:r>
              <a:rPr lang="en-US" sz="1700" dirty="0"/>
              <a:t>• 8 crops, 8 states and 10 districts</a:t>
            </a:r>
          </a:p>
          <a:p>
            <a:pPr>
              <a:lnSpc>
                <a:spcPct val="150000"/>
              </a:lnSpc>
              <a:spcBef>
                <a:spcPct val="0"/>
              </a:spcBef>
            </a:pPr>
            <a:r>
              <a:rPr lang="en-US" sz="1700" dirty="0"/>
              <a:t>• 4 irrigation methods</a:t>
            </a:r>
          </a:p>
          <a:p>
            <a:pPr>
              <a:lnSpc>
                <a:spcPct val="150000"/>
              </a:lnSpc>
            </a:pPr>
            <a:r>
              <a:rPr lang="en-US" sz="1700" dirty="0"/>
              <a:t>• Missing values were found in rainfall, </a:t>
            </a:r>
            <a:r>
              <a:rPr lang="en-US" sz="1700" dirty="0" err="1"/>
              <a:t>soilmoisture</a:t>
            </a:r>
            <a:r>
              <a:rPr lang="en-US" sz="1700" dirty="0"/>
              <a:t> and yield and handled with </a:t>
            </a:r>
            <a:r>
              <a:rPr lang="en-US" sz="1700" dirty="0" err="1"/>
              <a:t>medianimputation</a:t>
            </a:r>
            <a:r>
              <a:rPr lang="en-US" sz="1700" dirty="0"/>
              <a:t>.</a:t>
            </a:r>
          </a:p>
          <a:p>
            <a:pPr algn="l">
              <a:lnSpc>
                <a:spcPct val="150000"/>
              </a:lnSpc>
            </a:pPr>
            <a:endParaRPr lang="en-US"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936FCB6F-DF6E-216C-B40D-00759FAD8C83}"/>
              </a:ext>
            </a:extLst>
          </p:cNvPr>
          <p:cNvPicPr>
            <a:picLocks noChangeAspect="1"/>
          </p:cNvPicPr>
          <p:nvPr/>
        </p:nvPicPr>
        <p:blipFill>
          <a:blip r:embed="rId3"/>
          <a:stretch>
            <a:fillRect/>
          </a:stretch>
        </p:blipFill>
        <p:spPr>
          <a:xfrm>
            <a:off x="5032524" y="610232"/>
            <a:ext cx="4211668" cy="2316371"/>
          </a:xfrm>
          <a:prstGeom prst="rect">
            <a:avLst/>
          </a:prstGeom>
        </p:spPr>
      </p:pic>
      <p:sp>
        <p:nvSpPr>
          <p:cNvPr id="9" name="TextBox 8">
            <a:extLst>
              <a:ext uri="{FF2B5EF4-FFF2-40B4-BE49-F238E27FC236}">
                <a16:creationId xmlns:a16="http://schemas.microsoft.com/office/drawing/2014/main" id="{3E7C3F4E-46F4-801A-A06A-28F241D37BC3}"/>
              </a:ext>
            </a:extLst>
          </p:cNvPr>
          <p:cNvSpPr txBox="1"/>
          <p:nvPr/>
        </p:nvSpPr>
        <p:spPr>
          <a:xfrm>
            <a:off x="323794" y="1274116"/>
            <a:ext cx="4382218"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Agricultural performance was compared across:</a:t>
            </a:r>
            <a:endParaRPr lang="en-US" dirty="0"/>
          </a:p>
          <a:p>
            <a:pPr marL="285750" indent="-285750">
              <a:buFont typeface="Arial"/>
              <a:buChar char="•"/>
            </a:pPr>
            <a:r>
              <a:rPr lang="en-US" dirty="0">
                <a:ea typeface="+mn-lt"/>
                <a:cs typeface="+mn-lt"/>
              </a:rPr>
              <a:t>States </a:t>
            </a:r>
            <a:endParaRPr lang="en-US" dirty="0"/>
          </a:p>
          <a:p>
            <a:pPr marL="285750" indent="-285750">
              <a:buFont typeface="Arial"/>
              <a:buChar char="•"/>
            </a:pPr>
            <a:r>
              <a:rPr lang="en-US" dirty="0">
                <a:ea typeface="+mn-lt"/>
                <a:cs typeface="+mn-lt"/>
              </a:rPr>
              <a:t>Districts </a:t>
            </a:r>
            <a:endParaRPr lang="en-US" dirty="0"/>
          </a:p>
          <a:p>
            <a:pPr marL="285750" indent="-285750">
              <a:buFont typeface="Arial"/>
              <a:buChar char="•"/>
            </a:pPr>
            <a:r>
              <a:rPr lang="en-US" dirty="0">
                <a:ea typeface="+mn-lt"/>
                <a:cs typeface="+mn-lt"/>
              </a:rPr>
              <a:t>Seasons </a:t>
            </a:r>
            <a:endParaRPr lang="en-US" dirty="0"/>
          </a:p>
          <a:p>
            <a:r>
              <a:rPr lang="en-US" dirty="0"/>
              <a:t>Analysis Performed</a:t>
            </a:r>
          </a:p>
          <a:p>
            <a:pPr marL="285750" indent="-285750">
              <a:buFont typeface="Arial"/>
              <a:buChar char="•"/>
            </a:pPr>
            <a:r>
              <a:rPr lang="en-US" dirty="0">
                <a:ea typeface="+mn-lt"/>
                <a:cs typeface="+mn-lt"/>
              </a:rPr>
              <a:t>State-wise profit comparison </a:t>
            </a:r>
            <a:endParaRPr lang="en-US" dirty="0"/>
          </a:p>
          <a:p>
            <a:pPr marL="285750" indent="-285750">
              <a:buFont typeface="Arial"/>
              <a:buChar char="•"/>
            </a:pPr>
            <a:r>
              <a:rPr lang="en-US" dirty="0">
                <a:ea typeface="+mn-lt"/>
                <a:cs typeface="+mn-lt"/>
              </a:rPr>
              <a:t>Seasonal performance by region </a:t>
            </a:r>
            <a:endParaRPr lang="en-US" dirty="0"/>
          </a:p>
          <a:p>
            <a:pPr marL="285750" indent="-285750">
              <a:buFont typeface="Arial"/>
              <a:buChar char="•"/>
            </a:pPr>
            <a:r>
              <a:rPr lang="en-US" dirty="0">
                <a:ea typeface="+mn-lt"/>
                <a:cs typeface="+mn-lt"/>
              </a:rPr>
              <a:t>Regional variations </a:t>
            </a:r>
            <a:endParaRPr lang="en-US" dirty="0"/>
          </a:p>
          <a:p>
            <a:pPr marL="285750" indent="-285750">
              <a:buFont typeface="Arial"/>
              <a:buChar char="•"/>
            </a:pPr>
            <a:r>
              <a:rPr lang="en-US" dirty="0">
                <a:ea typeface="+mn-lt"/>
                <a:cs typeface="+mn-lt"/>
              </a:rPr>
              <a:t>Crop and resource differences</a:t>
            </a:r>
            <a:endParaRPr lang="en-US" dirty="0"/>
          </a:p>
          <a:p>
            <a:pPr algn="l"/>
            <a:endParaRPr lang="en-US" dirty="0"/>
          </a:p>
        </p:txBody>
      </p:sp>
      <p:pic>
        <p:nvPicPr>
          <p:cNvPr id="11" name="Picture 10">
            <a:extLst>
              <a:ext uri="{FF2B5EF4-FFF2-40B4-BE49-F238E27FC236}">
                <a16:creationId xmlns:a16="http://schemas.microsoft.com/office/drawing/2014/main" id="{76F76772-8B4F-80B0-172A-2BDF76C5FCD5}"/>
              </a:ext>
            </a:extLst>
          </p:cNvPr>
          <p:cNvPicPr>
            <a:picLocks noChangeAspect="1"/>
          </p:cNvPicPr>
          <p:nvPr/>
        </p:nvPicPr>
        <p:blipFill>
          <a:blip r:embed="rId4"/>
          <a:stretch>
            <a:fillRect/>
          </a:stretch>
        </p:blipFill>
        <p:spPr>
          <a:xfrm>
            <a:off x="5032434" y="3092661"/>
            <a:ext cx="4211848" cy="2326076"/>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77769" y="1431693"/>
            <a:ext cx="6417363" cy="5049520"/>
          </a:xfrm>
        </p:spPr>
        <p:txBody>
          <a:bodyPr vert="horz" lIns="91440" tIns="45720" rIns="91440" bIns="45720" rtlCol="0" anchor="t">
            <a:normAutofit fontScale="92500" lnSpcReduction="20000"/>
          </a:bodyPr>
          <a:lstStyle/>
          <a:p>
            <a:pPr>
              <a:buNone/>
            </a:pPr>
            <a:r>
              <a:rPr lang="en-US" b="1" dirty="0"/>
              <a:t>IRRIGATION PERFORMANCE</a:t>
            </a:r>
            <a:endParaRPr lang="en-US" dirty="0"/>
          </a:p>
          <a:p>
            <a:pPr>
              <a:buNone/>
            </a:pPr>
            <a:r>
              <a:rPr lang="en-US" dirty="0">
                <a:ea typeface="+mn-lt"/>
                <a:cs typeface="+mn-lt"/>
              </a:rPr>
              <a:t>Different irrigation methods were compared based on:</a:t>
            </a:r>
            <a:endParaRPr lang="en-US" dirty="0"/>
          </a:p>
          <a:p>
            <a:pPr>
              <a:buFont typeface="Wingdings"/>
              <a:buChar char="§"/>
            </a:pPr>
            <a:r>
              <a:rPr lang="en-US" dirty="0">
                <a:ea typeface="+mn-lt"/>
                <a:cs typeface="+mn-lt"/>
              </a:rPr>
              <a:t>Yield </a:t>
            </a:r>
            <a:endParaRPr lang="en-US" dirty="0"/>
          </a:p>
          <a:p>
            <a:pPr>
              <a:buFont typeface="Wingdings"/>
              <a:buChar char="§"/>
            </a:pPr>
            <a:r>
              <a:rPr lang="en-US" dirty="0">
                <a:ea typeface="+mn-lt"/>
                <a:cs typeface="+mn-lt"/>
              </a:rPr>
              <a:t>Water usage </a:t>
            </a:r>
            <a:endParaRPr lang="en-US" dirty="0"/>
          </a:p>
          <a:p>
            <a:pPr>
              <a:buFont typeface="Wingdings"/>
              <a:buChar char="§"/>
            </a:pPr>
            <a:r>
              <a:rPr lang="en-US" dirty="0">
                <a:ea typeface="+mn-lt"/>
                <a:cs typeface="+mn-lt"/>
              </a:rPr>
              <a:t>Water efficiency </a:t>
            </a:r>
            <a:endParaRPr lang="en-US" dirty="0"/>
          </a:p>
          <a:p>
            <a:pPr>
              <a:buFont typeface="Wingdings"/>
              <a:buChar char="§"/>
            </a:pPr>
            <a:r>
              <a:rPr lang="en-US" dirty="0">
                <a:ea typeface="+mn-lt"/>
                <a:cs typeface="+mn-lt"/>
              </a:rPr>
              <a:t>Profit </a:t>
            </a:r>
            <a:endParaRPr lang="en-US" dirty="0"/>
          </a:p>
          <a:p>
            <a:pPr indent="0">
              <a:buNone/>
            </a:pPr>
            <a:r>
              <a:rPr lang="en-US" dirty="0"/>
              <a:t>Key Finding</a:t>
            </a:r>
          </a:p>
          <a:p>
            <a:pPr>
              <a:buNone/>
            </a:pPr>
            <a:r>
              <a:rPr lang="en-US" dirty="0">
                <a:ea typeface="+mn-lt"/>
                <a:cs typeface="+mn-lt"/>
              </a:rPr>
              <a:t>💧 </a:t>
            </a:r>
            <a:r>
              <a:rPr lang="en-US" b="1" dirty="0">
                <a:ea typeface="+mn-lt"/>
                <a:cs typeface="+mn-lt"/>
              </a:rPr>
              <a:t>Drip irrigation recorded the highest average yield</a:t>
            </a:r>
            <a:r>
              <a:rPr lang="en-US" dirty="0">
                <a:ea typeface="+mn-lt"/>
                <a:cs typeface="+mn-lt"/>
              </a:rPr>
              <a:t> among the analyzed irrigation methods.</a:t>
            </a:r>
            <a:endParaRPr lang="en-US" dirty="0"/>
          </a:p>
          <a:p>
            <a:pPr>
              <a:buNone/>
            </a:pPr>
            <a:r>
              <a:rPr lang="en-US" dirty="0"/>
              <a:t>Water Efficiency</a:t>
            </a:r>
          </a:p>
          <a:p>
            <a:pPr>
              <a:buNone/>
            </a:pPr>
            <a:r>
              <a:rPr lang="en-US" dirty="0">
                <a:ea typeface="+mn-lt"/>
                <a:cs typeface="+mn-lt"/>
              </a:rPr>
              <a:t>The analysis also identified a </a:t>
            </a:r>
            <a:r>
              <a:rPr lang="en-US" b="1" dirty="0">
                <a:ea typeface="+mn-lt"/>
                <a:cs typeface="+mn-lt"/>
              </a:rPr>
              <a:t>strong positive relationship between water efficiency and crop yield</a:t>
            </a:r>
            <a:r>
              <a:rPr lang="en-US" dirty="0">
                <a:ea typeface="+mn-lt"/>
                <a:cs typeface="+mn-lt"/>
              </a:rPr>
              <a:t>.</a:t>
            </a:r>
            <a:endParaRPr lang="en-US" dirty="0"/>
          </a:p>
          <a:p>
            <a:pPr>
              <a:buNone/>
            </a:pPr>
            <a:r>
              <a:rPr lang="en-US" dirty="0">
                <a:ea typeface="+mn-lt"/>
                <a:cs typeface="+mn-lt"/>
              </a:rPr>
              <a:t>Observed correlation:</a:t>
            </a:r>
            <a:endParaRPr lang="en-US" dirty="0"/>
          </a:p>
          <a:p>
            <a:pPr>
              <a:buNone/>
            </a:pPr>
            <a:r>
              <a:rPr lang="en-US" b="1" dirty="0">
                <a:ea typeface="+mn-lt"/>
                <a:cs typeface="+mn-lt"/>
              </a:rPr>
              <a:t>≈ 0.92</a:t>
            </a:r>
            <a:endParaRPr lang="en-US" dirty="0"/>
          </a:p>
          <a:p>
            <a:pPr marL="0" indent="0">
              <a:buNone/>
            </a:pPr>
            <a:endParaRPr lang="en-US" dirty="0"/>
          </a:p>
        </p:txBody>
      </p:sp>
      <p:pic>
        <p:nvPicPr>
          <p:cNvPr id="2" name="Picture 1">
            <a:extLst>
              <a:ext uri="{FF2B5EF4-FFF2-40B4-BE49-F238E27FC236}">
                <a16:creationId xmlns:a16="http://schemas.microsoft.com/office/drawing/2014/main" id="{ECF1E279-925F-11C3-7EC5-F003830036CF}"/>
              </a:ext>
            </a:extLst>
          </p:cNvPr>
          <p:cNvPicPr>
            <a:picLocks noChangeAspect="1"/>
          </p:cNvPicPr>
          <p:nvPr/>
        </p:nvPicPr>
        <p:blipFill>
          <a:blip r:embed="rId3"/>
          <a:stretch>
            <a:fillRect/>
          </a:stretch>
        </p:blipFill>
        <p:spPr>
          <a:xfrm>
            <a:off x="7086960" y="2149775"/>
            <a:ext cx="2733856" cy="2572829"/>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10">
                                            <p:txEl>
                                              <p:pRg st="5" end="5"/>
                                            </p:txEl>
                                          </p:spTgt>
                                        </p:tgtEl>
                                        <p:attrNameLst>
                                          <p:attrName>style.visibility</p:attrName>
                                        </p:attrNameLst>
                                      </p:cBhvr>
                                      <p:to>
                                        <p:strVal val="visible"/>
                                      </p:to>
                                    </p:set>
                                    <p:animEffect transition="in" filter="fade">
                                      <p:cBhvr>
                                        <p:cTn id="63" dur="1000"/>
                                        <p:tgtEl>
                                          <p:spTgt spid="10">
                                            <p:txEl>
                                              <p:pRg st="5" end="5"/>
                                            </p:txEl>
                                          </p:spTgt>
                                        </p:tgtEl>
                                      </p:cBhvr>
                                    </p:animEffect>
                                    <p:anim calcmode="lin" valueType="num">
                                      <p:cBhvr>
                                        <p:cTn id="64" dur="1000" fill="hold"/>
                                        <p:tgtEl>
                                          <p:spTgt spid="10">
                                            <p:txEl>
                                              <p:pRg st="5" end="5"/>
                                            </p:txEl>
                                          </p:spTgt>
                                        </p:tgtEl>
                                        <p:attrNameLst>
                                          <p:attrName>ppt_x</p:attrName>
                                        </p:attrNameLst>
                                      </p:cBhvr>
                                      <p:tavLst>
                                        <p:tav tm="0">
                                          <p:val>
                                            <p:strVal val="#ppt_x"/>
                                          </p:val>
                                        </p:tav>
                                        <p:tav tm="100000">
                                          <p:val>
                                            <p:strVal val="#ppt_x"/>
                                          </p:val>
                                        </p:tav>
                                      </p:tavLst>
                                    </p:anim>
                                    <p:anim calcmode="lin" valueType="num">
                                      <p:cBhvr>
                                        <p:cTn id="65" dur="1000" fill="hold"/>
                                        <p:tgtEl>
                                          <p:spTgt spid="10">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10">
                                            <p:txEl>
                                              <p:pRg st="6" end="6"/>
                                            </p:txEl>
                                          </p:spTgt>
                                        </p:tgtEl>
                                        <p:attrNameLst>
                                          <p:attrName>style.visibility</p:attrName>
                                        </p:attrNameLst>
                                      </p:cBhvr>
                                      <p:to>
                                        <p:strVal val="visible"/>
                                      </p:to>
                                    </p:set>
                                    <p:animEffect transition="in" filter="fade">
                                      <p:cBhvr>
                                        <p:cTn id="70" dur="1000"/>
                                        <p:tgtEl>
                                          <p:spTgt spid="10">
                                            <p:txEl>
                                              <p:pRg st="6" end="6"/>
                                            </p:txEl>
                                          </p:spTgt>
                                        </p:tgtEl>
                                      </p:cBhvr>
                                    </p:animEffect>
                                    <p:anim calcmode="lin" valueType="num">
                                      <p:cBhvr>
                                        <p:cTn id="71" dur="1000" fill="hold"/>
                                        <p:tgtEl>
                                          <p:spTgt spid="10">
                                            <p:txEl>
                                              <p:pRg st="6" end="6"/>
                                            </p:txEl>
                                          </p:spTgt>
                                        </p:tgtEl>
                                        <p:attrNameLst>
                                          <p:attrName>ppt_x</p:attrName>
                                        </p:attrNameLst>
                                      </p:cBhvr>
                                      <p:tavLst>
                                        <p:tav tm="0">
                                          <p:val>
                                            <p:strVal val="#ppt_x"/>
                                          </p:val>
                                        </p:tav>
                                        <p:tav tm="100000">
                                          <p:val>
                                            <p:strVal val="#ppt_x"/>
                                          </p:val>
                                        </p:tav>
                                      </p:tavLst>
                                    </p:anim>
                                    <p:anim calcmode="lin" valueType="num">
                                      <p:cBhvr>
                                        <p:cTn id="72" dur="1000" fill="hold"/>
                                        <p:tgtEl>
                                          <p:spTgt spid="1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10">
                                            <p:txEl>
                                              <p:pRg st="7" end="7"/>
                                            </p:txEl>
                                          </p:spTgt>
                                        </p:tgtEl>
                                        <p:attrNameLst>
                                          <p:attrName>style.visibility</p:attrName>
                                        </p:attrNameLst>
                                      </p:cBhvr>
                                      <p:to>
                                        <p:strVal val="visible"/>
                                      </p:to>
                                    </p:set>
                                    <p:animEffect transition="in" filter="fade">
                                      <p:cBhvr>
                                        <p:cTn id="77" dur="1000"/>
                                        <p:tgtEl>
                                          <p:spTgt spid="10">
                                            <p:txEl>
                                              <p:pRg st="7" end="7"/>
                                            </p:txEl>
                                          </p:spTgt>
                                        </p:tgtEl>
                                      </p:cBhvr>
                                    </p:animEffect>
                                    <p:anim calcmode="lin" valueType="num">
                                      <p:cBhvr>
                                        <p:cTn id="78" dur="1000" fill="hold"/>
                                        <p:tgtEl>
                                          <p:spTgt spid="10">
                                            <p:txEl>
                                              <p:pRg st="7" end="7"/>
                                            </p:txEl>
                                          </p:spTgt>
                                        </p:tgtEl>
                                        <p:attrNameLst>
                                          <p:attrName>ppt_x</p:attrName>
                                        </p:attrNameLst>
                                      </p:cBhvr>
                                      <p:tavLst>
                                        <p:tav tm="0">
                                          <p:val>
                                            <p:strVal val="#ppt_x"/>
                                          </p:val>
                                        </p:tav>
                                        <p:tav tm="100000">
                                          <p:val>
                                            <p:strVal val="#ppt_x"/>
                                          </p:val>
                                        </p:tav>
                                      </p:tavLst>
                                    </p:anim>
                                    <p:anim calcmode="lin" valueType="num">
                                      <p:cBhvr>
                                        <p:cTn id="79" dur="1000" fill="hold"/>
                                        <p:tgtEl>
                                          <p:spTgt spid="10">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80" fill="hold">
                      <p:stCondLst>
                        <p:cond delay="indefinite"/>
                      </p:stCondLst>
                      <p:childTnLst>
                        <p:par>
                          <p:cTn id="81" fill="hold">
                            <p:stCondLst>
                              <p:cond delay="0"/>
                            </p:stCondLst>
                            <p:childTnLst>
                              <p:par>
                                <p:cTn id="82" presetID="42" presetClass="entr" presetSubtype="0" fill="hold" grpId="0" nodeType="clickEffect">
                                  <p:stCondLst>
                                    <p:cond delay="0"/>
                                  </p:stCondLst>
                                  <p:childTnLst>
                                    <p:set>
                                      <p:cBhvr>
                                        <p:cTn id="83" dur="1" fill="hold">
                                          <p:stCondLst>
                                            <p:cond delay="0"/>
                                          </p:stCondLst>
                                        </p:cTn>
                                        <p:tgtEl>
                                          <p:spTgt spid="10">
                                            <p:txEl>
                                              <p:pRg st="8" end="8"/>
                                            </p:txEl>
                                          </p:spTgt>
                                        </p:tgtEl>
                                        <p:attrNameLst>
                                          <p:attrName>style.visibility</p:attrName>
                                        </p:attrNameLst>
                                      </p:cBhvr>
                                      <p:to>
                                        <p:strVal val="visible"/>
                                      </p:to>
                                    </p:set>
                                    <p:animEffect transition="in" filter="fade">
                                      <p:cBhvr>
                                        <p:cTn id="84" dur="1000"/>
                                        <p:tgtEl>
                                          <p:spTgt spid="10">
                                            <p:txEl>
                                              <p:pRg st="8" end="8"/>
                                            </p:txEl>
                                          </p:spTgt>
                                        </p:tgtEl>
                                      </p:cBhvr>
                                    </p:animEffect>
                                    <p:anim calcmode="lin" valueType="num">
                                      <p:cBhvr>
                                        <p:cTn id="85" dur="1000" fill="hold"/>
                                        <p:tgtEl>
                                          <p:spTgt spid="10">
                                            <p:txEl>
                                              <p:pRg st="8" end="8"/>
                                            </p:txEl>
                                          </p:spTgt>
                                        </p:tgtEl>
                                        <p:attrNameLst>
                                          <p:attrName>ppt_x</p:attrName>
                                        </p:attrNameLst>
                                      </p:cBhvr>
                                      <p:tavLst>
                                        <p:tav tm="0">
                                          <p:val>
                                            <p:strVal val="#ppt_x"/>
                                          </p:val>
                                        </p:tav>
                                        <p:tav tm="100000">
                                          <p:val>
                                            <p:strVal val="#ppt_x"/>
                                          </p:val>
                                        </p:tav>
                                      </p:tavLst>
                                    </p:anim>
                                    <p:anim calcmode="lin" valueType="num">
                                      <p:cBhvr>
                                        <p:cTn id="86" dur="1000" fill="hold"/>
                                        <p:tgtEl>
                                          <p:spTgt spid="10">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grpId="0" nodeType="clickEffect">
                                  <p:stCondLst>
                                    <p:cond delay="0"/>
                                  </p:stCondLst>
                                  <p:childTnLst>
                                    <p:set>
                                      <p:cBhvr>
                                        <p:cTn id="90" dur="1" fill="hold">
                                          <p:stCondLst>
                                            <p:cond delay="0"/>
                                          </p:stCondLst>
                                        </p:cTn>
                                        <p:tgtEl>
                                          <p:spTgt spid="10">
                                            <p:txEl>
                                              <p:pRg st="9" end="9"/>
                                            </p:txEl>
                                          </p:spTgt>
                                        </p:tgtEl>
                                        <p:attrNameLst>
                                          <p:attrName>style.visibility</p:attrName>
                                        </p:attrNameLst>
                                      </p:cBhvr>
                                      <p:to>
                                        <p:strVal val="visible"/>
                                      </p:to>
                                    </p:set>
                                    <p:animEffect transition="in" filter="fade">
                                      <p:cBhvr>
                                        <p:cTn id="91" dur="1000"/>
                                        <p:tgtEl>
                                          <p:spTgt spid="10">
                                            <p:txEl>
                                              <p:pRg st="9" end="9"/>
                                            </p:txEl>
                                          </p:spTgt>
                                        </p:tgtEl>
                                      </p:cBhvr>
                                    </p:animEffect>
                                    <p:anim calcmode="lin" valueType="num">
                                      <p:cBhvr>
                                        <p:cTn id="92" dur="1000" fill="hold"/>
                                        <p:tgtEl>
                                          <p:spTgt spid="10">
                                            <p:txEl>
                                              <p:pRg st="9" end="9"/>
                                            </p:txEl>
                                          </p:spTgt>
                                        </p:tgtEl>
                                        <p:attrNameLst>
                                          <p:attrName>ppt_x</p:attrName>
                                        </p:attrNameLst>
                                      </p:cBhvr>
                                      <p:tavLst>
                                        <p:tav tm="0">
                                          <p:val>
                                            <p:strVal val="#ppt_x"/>
                                          </p:val>
                                        </p:tav>
                                        <p:tav tm="100000">
                                          <p:val>
                                            <p:strVal val="#ppt_x"/>
                                          </p:val>
                                        </p:tav>
                                      </p:tavLst>
                                    </p:anim>
                                    <p:anim calcmode="lin" valueType="num">
                                      <p:cBhvr>
                                        <p:cTn id="93" dur="1000" fill="hold"/>
                                        <p:tgtEl>
                                          <p:spTgt spid="10">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grpId="0" nodeType="clickEffect">
                                  <p:stCondLst>
                                    <p:cond delay="0"/>
                                  </p:stCondLst>
                                  <p:childTnLst>
                                    <p:set>
                                      <p:cBhvr>
                                        <p:cTn id="97" dur="1" fill="hold">
                                          <p:stCondLst>
                                            <p:cond delay="0"/>
                                          </p:stCondLst>
                                        </p:cTn>
                                        <p:tgtEl>
                                          <p:spTgt spid="10">
                                            <p:txEl>
                                              <p:pRg st="10" end="10"/>
                                            </p:txEl>
                                          </p:spTgt>
                                        </p:tgtEl>
                                        <p:attrNameLst>
                                          <p:attrName>style.visibility</p:attrName>
                                        </p:attrNameLst>
                                      </p:cBhvr>
                                      <p:to>
                                        <p:strVal val="visible"/>
                                      </p:to>
                                    </p:set>
                                    <p:animEffect transition="in" filter="fade">
                                      <p:cBhvr>
                                        <p:cTn id="98" dur="1000"/>
                                        <p:tgtEl>
                                          <p:spTgt spid="10">
                                            <p:txEl>
                                              <p:pRg st="10" end="10"/>
                                            </p:txEl>
                                          </p:spTgt>
                                        </p:tgtEl>
                                      </p:cBhvr>
                                    </p:animEffect>
                                    <p:anim calcmode="lin" valueType="num">
                                      <p:cBhvr>
                                        <p:cTn id="99" dur="1000" fill="hold"/>
                                        <p:tgtEl>
                                          <p:spTgt spid="10">
                                            <p:txEl>
                                              <p:pRg st="10" end="10"/>
                                            </p:txEl>
                                          </p:spTgt>
                                        </p:tgtEl>
                                        <p:attrNameLst>
                                          <p:attrName>ppt_x</p:attrName>
                                        </p:attrNameLst>
                                      </p:cBhvr>
                                      <p:tavLst>
                                        <p:tav tm="0">
                                          <p:val>
                                            <p:strVal val="#ppt_x"/>
                                          </p:val>
                                        </p:tav>
                                        <p:tav tm="100000">
                                          <p:val>
                                            <p:strVal val="#ppt_x"/>
                                          </p:val>
                                        </p:tav>
                                      </p:tavLst>
                                    </p:anim>
                                    <p:anim calcmode="lin" valueType="num">
                                      <p:cBhvr>
                                        <p:cTn id="100" dur="1000" fill="hold"/>
                                        <p:tgtEl>
                                          <p:spTgt spid="10">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grpId="0" nodeType="clickEffect">
                                  <p:stCondLst>
                                    <p:cond delay="0"/>
                                  </p:stCondLst>
                                  <p:childTnLst>
                                    <p:set>
                                      <p:cBhvr>
                                        <p:cTn id="104" dur="1" fill="hold">
                                          <p:stCondLst>
                                            <p:cond delay="0"/>
                                          </p:stCondLst>
                                        </p:cTn>
                                        <p:tgtEl>
                                          <p:spTgt spid="10">
                                            <p:txEl>
                                              <p:pRg st="11" end="11"/>
                                            </p:txEl>
                                          </p:spTgt>
                                        </p:tgtEl>
                                        <p:attrNameLst>
                                          <p:attrName>style.visibility</p:attrName>
                                        </p:attrNameLst>
                                      </p:cBhvr>
                                      <p:to>
                                        <p:strVal val="visible"/>
                                      </p:to>
                                    </p:set>
                                    <p:animEffect transition="in" filter="fade">
                                      <p:cBhvr>
                                        <p:cTn id="105" dur="1000"/>
                                        <p:tgtEl>
                                          <p:spTgt spid="10">
                                            <p:txEl>
                                              <p:pRg st="11" end="11"/>
                                            </p:txEl>
                                          </p:spTgt>
                                        </p:tgtEl>
                                      </p:cBhvr>
                                    </p:animEffect>
                                    <p:anim calcmode="lin" valueType="num">
                                      <p:cBhvr>
                                        <p:cTn id="106" dur="1000" fill="hold"/>
                                        <p:tgtEl>
                                          <p:spTgt spid="10">
                                            <p:txEl>
                                              <p:pRg st="11" end="11"/>
                                            </p:txEl>
                                          </p:spTgt>
                                        </p:tgtEl>
                                        <p:attrNameLst>
                                          <p:attrName>ppt_x</p:attrName>
                                        </p:attrNameLst>
                                      </p:cBhvr>
                                      <p:tavLst>
                                        <p:tav tm="0">
                                          <p:val>
                                            <p:strVal val="#ppt_x"/>
                                          </p:val>
                                        </p:tav>
                                        <p:tav tm="100000">
                                          <p:val>
                                            <p:strVal val="#ppt_x"/>
                                          </p:val>
                                        </p:tav>
                                      </p:tavLst>
                                    </p:anim>
                                    <p:anim calcmode="lin" valueType="num">
                                      <p:cBhvr>
                                        <p:cTn id="107" dur="1000" fill="hold"/>
                                        <p:tgtEl>
                                          <p:spTgt spid="10">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253485DD-7C9D-5919-1E65-699732FD3F4F}"/>
              </a:ext>
            </a:extLst>
          </p:cNvPr>
          <p:cNvPicPr>
            <a:picLocks noChangeAspect="1"/>
          </p:cNvPicPr>
          <p:nvPr/>
        </p:nvPicPr>
        <p:blipFill>
          <a:blip r:embed="rId3"/>
          <a:stretch>
            <a:fillRect/>
          </a:stretch>
        </p:blipFill>
        <p:spPr>
          <a:xfrm>
            <a:off x="679983" y="1020792"/>
            <a:ext cx="8718562" cy="5650302"/>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187BFAB5-FA58-12E3-49C0-B511F1BA38C4}"/>
              </a:ext>
            </a:extLst>
          </p:cNvPr>
          <p:cNvPicPr>
            <a:picLocks noChangeAspect="1"/>
          </p:cNvPicPr>
          <p:nvPr/>
        </p:nvPicPr>
        <p:blipFill>
          <a:blip r:embed="rId3"/>
          <a:stretch>
            <a:fillRect/>
          </a:stretch>
        </p:blipFill>
        <p:spPr>
          <a:xfrm>
            <a:off x="1169059" y="1612960"/>
            <a:ext cx="7524750" cy="466725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AC8F69FD-9C4C-DF95-D626-FE11F6B10483}"/>
              </a:ext>
            </a:extLst>
          </p:cNvPr>
          <p:cNvSpPr txBox="1"/>
          <p:nvPr/>
        </p:nvSpPr>
        <p:spPr>
          <a:xfrm>
            <a:off x="669519" y="1051489"/>
            <a:ext cx="8577453" cy="6186309"/>
          </a:xfrm>
          <a:prstGeom prst="rect">
            <a:avLst/>
          </a:prstGeom>
          <a:noFill/>
          <a:ln>
            <a:solidFill>
              <a:schemeClr val="bg1"/>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 Future Enhancements</a:t>
            </a:r>
          </a:p>
          <a:p>
            <a:r>
              <a:rPr lang="en-US" b="1" dirty="0">
                <a:ea typeface="+mn-lt"/>
                <a:cs typeface="+mn-lt"/>
              </a:rPr>
              <a:t>1. Machine Learning Prediction</a:t>
            </a:r>
            <a:endParaRPr lang="en-US" dirty="0"/>
          </a:p>
          <a:p>
            <a:r>
              <a:rPr lang="en-US" dirty="0">
                <a:ea typeface="+mn-lt"/>
                <a:cs typeface="+mn-lt"/>
              </a:rPr>
              <a:t>Predict:</a:t>
            </a:r>
            <a:endParaRPr lang="en-US" dirty="0"/>
          </a:p>
          <a:p>
            <a:pPr marL="285750" indent="-285750">
              <a:buFont typeface="Arial"/>
              <a:buChar char="•"/>
            </a:pPr>
            <a:r>
              <a:rPr lang="en-US" dirty="0">
                <a:ea typeface="+mn-lt"/>
                <a:cs typeface="+mn-lt"/>
              </a:rPr>
              <a:t>Crop yield </a:t>
            </a:r>
            <a:endParaRPr lang="en-US" dirty="0"/>
          </a:p>
          <a:p>
            <a:pPr marL="285750" indent="-285750">
              <a:buFont typeface="Arial"/>
              <a:buChar char="•"/>
            </a:pPr>
            <a:r>
              <a:rPr lang="en-US" dirty="0">
                <a:ea typeface="+mn-lt"/>
                <a:cs typeface="+mn-lt"/>
              </a:rPr>
              <a:t>Production </a:t>
            </a:r>
            <a:endParaRPr lang="en-US" dirty="0"/>
          </a:p>
          <a:p>
            <a:pPr marL="285750" indent="-285750">
              <a:buFont typeface="Arial"/>
              <a:buChar char="•"/>
            </a:pPr>
            <a:r>
              <a:rPr lang="en-US" dirty="0">
                <a:ea typeface="+mn-lt"/>
                <a:cs typeface="+mn-lt"/>
              </a:rPr>
              <a:t>Water requirements </a:t>
            </a:r>
            <a:endParaRPr lang="en-US" dirty="0"/>
          </a:p>
          <a:p>
            <a:r>
              <a:rPr lang="en-US" b="1" dirty="0">
                <a:ea typeface="+mn-lt"/>
                <a:cs typeface="+mn-lt"/>
              </a:rPr>
              <a:t>2. Real-Time Data</a:t>
            </a:r>
            <a:endParaRPr lang="en-US" dirty="0"/>
          </a:p>
          <a:p>
            <a:r>
              <a:rPr lang="en-US" dirty="0">
                <a:ea typeface="+mn-lt"/>
                <a:cs typeface="+mn-lt"/>
              </a:rPr>
              <a:t>Integrate:</a:t>
            </a:r>
            <a:endParaRPr lang="en-US" dirty="0"/>
          </a:p>
          <a:p>
            <a:pPr marL="285750" indent="-285750">
              <a:buFont typeface="Arial"/>
              <a:buChar char="•"/>
            </a:pPr>
            <a:r>
              <a:rPr lang="en-US" dirty="0">
                <a:ea typeface="+mn-lt"/>
                <a:cs typeface="+mn-lt"/>
              </a:rPr>
              <a:t>Weather data </a:t>
            </a:r>
            <a:endParaRPr lang="en-US" dirty="0"/>
          </a:p>
          <a:p>
            <a:pPr marL="285750" indent="-285750">
              <a:buFont typeface="Arial"/>
              <a:buChar char="•"/>
            </a:pPr>
            <a:r>
              <a:rPr lang="en-US" dirty="0">
                <a:ea typeface="+mn-lt"/>
                <a:cs typeface="+mn-lt"/>
              </a:rPr>
              <a:t>Rainfall </a:t>
            </a:r>
            <a:endParaRPr lang="en-US" dirty="0"/>
          </a:p>
          <a:p>
            <a:pPr marL="285750" indent="-285750">
              <a:buFont typeface="Arial"/>
              <a:buChar char="•"/>
            </a:pPr>
            <a:r>
              <a:rPr lang="en-US" dirty="0">
                <a:ea typeface="+mn-lt"/>
                <a:cs typeface="+mn-lt"/>
              </a:rPr>
              <a:t>Soil conditions  </a:t>
            </a:r>
            <a:endParaRPr lang="en-US" dirty="0"/>
          </a:p>
          <a:p>
            <a:r>
              <a:rPr lang="en-US" b="1" dirty="0">
                <a:ea typeface="+mn-lt"/>
                <a:cs typeface="+mn-lt"/>
              </a:rPr>
              <a:t>3. Interactive Dashboard</a:t>
            </a:r>
            <a:endParaRPr lang="en-US" dirty="0"/>
          </a:p>
          <a:p>
            <a:r>
              <a:rPr lang="en-US" dirty="0">
                <a:ea typeface="+mn-lt"/>
                <a:cs typeface="+mn-lt"/>
              </a:rPr>
              <a:t>Develop dashboards using:</a:t>
            </a:r>
            <a:endParaRPr lang="en-US" dirty="0"/>
          </a:p>
          <a:p>
            <a:pPr marL="285750" indent="-285750">
              <a:buFont typeface="Arial"/>
              <a:buChar char="•"/>
            </a:pPr>
            <a:r>
              <a:rPr lang="en-US" dirty="0" err="1">
                <a:ea typeface="+mn-lt"/>
                <a:cs typeface="+mn-lt"/>
              </a:rPr>
              <a:t>Streamlit</a:t>
            </a:r>
            <a:r>
              <a:rPr lang="en-US" dirty="0">
                <a:ea typeface="+mn-lt"/>
                <a:cs typeface="+mn-lt"/>
              </a:rPr>
              <a:t> </a:t>
            </a:r>
            <a:endParaRPr lang="en-US" dirty="0"/>
          </a:p>
          <a:p>
            <a:pPr marL="285750" indent="-285750">
              <a:buFont typeface="Arial"/>
              <a:buChar char="•"/>
            </a:pPr>
            <a:r>
              <a:rPr lang="en-US" dirty="0">
                <a:ea typeface="+mn-lt"/>
                <a:cs typeface="+mn-lt"/>
              </a:rPr>
              <a:t>Power BI </a:t>
            </a:r>
            <a:endParaRPr lang="en-US" dirty="0"/>
          </a:p>
          <a:p>
            <a:r>
              <a:rPr lang="en-US" b="1" dirty="0">
                <a:ea typeface="+mn-lt"/>
                <a:cs typeface="+mn-lt"/>
              </a:rPr>
              <a:t>4. Recommendation System</a:t>
            </a:r>
            <a:endParaRPr lang="en-US" dirty="0"/>
          </a:p>
          <a:p>
            <a:r>
              <a:rPr lang="en-US" dirty="0">
                <a:ea typeface="+mn-lt"/>
                <a:cs typeface="+mn-lt"/>
              </a:rPr>
              <a:t>Recommend:</a:t>
            </a:r>
            <a:endParaRPr lang="en-US" dirty="0"/>
          </a:p>
          <a:p>
            <a:pPr marL="285750" indent="-285750">
              <a:buFont typeface="Arial"/>
              <a:buChar char="•"/>
            </a:pPr>
            <a:r>
              <a:rPr lang="en-US" dirty="0">
                <a:ea typeface="+mn-lt"/>
                <a:cs typeface="+mn-lt"/>
              </a:rPr>
              <a:t>Suitable crops </a:t>
            </a:r>
            <a:endParaRPr lang="en-US" dirty="0"/>
          </a:p>
          <a:p>
            <a:pPr marL="285750" indent="-285750">
              <a:buFont typeface="Arial"/>
              <a:buChar char="•"/>
            </a:pPr>
            <a:r>
              <a:rPr lang="en-US" dirty="0">
                <a:ea typeface="+mn-lt"/>
                <a:cs typeface="+mn-lt"/>
              </a:rPr>
              <a:t>Irrigation methods </a:t>
            </a:r>
            <a:endParaRPr lang="en-US" dirty="0"/>
          </a:p>
          <a:p>
            <a:r>
              <a:rPr lang="en-US" b="1" dirty="0">
                <a:ea typeface="+mn-lt"/>
                <a:cs typeface="+mn-lt"/>
              </a:rPr>
              <a:t>5. Geographic Analysis</a:t>
            </a:r>
            <a:endParaRPr lang="en-US" dirty="0"/>
          </a:p>
          <a:p>
            <a:r>
              <a:rPr lang="en-US" dirty="0">
                <a:ea typeface="+mn-lt"/>
                <a:cs typeface="+mn-lt"/>
              </a:rPr>
              <a:t>Use GIS/location-based analysis for detailed regional insights</a:t>
            </a:r>
            <a:endParaRPr lang="en-US" dirty="0"/>
          </a:p>
          <a:p>
            <a:pPr algn="l"/>
            <a:endParaRPr lang="en-US" dirty="0"/>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729256" y="1440320"/>
            <a:ext cx="7232875" cy="646331"/>
          </a:xfrm>
          <a:prstGeom prst="rect">
            <a:avLst/>
          </a:prstGeom>
          <a:noFill/>
        </p:spPr>
        <p:txBody>
          <a:bodyPr wrap="square" lIns="91440" tIns="45720" rIns="91440" bIns="45720" anchor="t">
            <a:spAutoFit/>
          </a:bodyPr>
          <a:lstStyle/>
          <a:p>
            <a:r>
              <a:rPr lang="en-US" dirty="0">
                <a:ea typeface="+mn-lt"/>
                <a:cs typeface="+mn-lt"/>
              </a:rPr>
              <a:t>https://github.com/madhanr27/Seasonal-Agriculture-Performance-Analysis</a:t>
            </a:r>
            <a:endParaRPr lang="en-US" dirty="0"/>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94CB0AC2-8099-DFA9-125B-6392178BF2B5}"/>
              </a:ext>
            </a:extLst>
          </p:cNvPr>
          <p:cNvPicPr>
            <a:picLocks noChangeAspect="1"/>
          </p:cNvPicPr>
          <p:nvPr/>
        </p:nvPicPr>
        <p:blipFill>
          <a:blip r:embed="rId3"/>
          <a:stretch>
            <a:fillRect/>
          </a:stretch>
        </p:blipFill>
        <p:spPr>
          <a:xfrm>
            <a:off x="846491" y="1443567"/>
            <a:ext cx="7648575" cy="5198534"/>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315889" y="284903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1356</TotalTime>
  <Words>202</Words>
  <Application>Microsoft Office PowerPoint</Application>
  <PresentationFormat>Widescreen</PresentationFormat>
  <Paragraphs>26</Paragraphs>
  <Slides>14</Slides>
  <Notes>1</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Facet</vt:lpstr>
      <vt:lpstr>Project Title -Seasonal Agriculture Performance Analysis </vt:lpstr>
      <vt:lpstr>PROBLEM  STATEMENT</vt:lpstr>
      <vt:lpstr>Project Description  This project performs a complete data analytics study of agricultural performance across different seasons. The dataset contains information about: Seasons  Crops  States and districts  Farming conditions  Environmental factors  Irrigation methods  Water usage and efficiency  Crop yield and production  Revenue and cost  Profit  Disease and pest risk   Project Workflow:  Data Collection → Data Cleaning → EDA → Seasonal Analysis → Crop Analysis → Resource Analysis → Regional Analysis → Correlation → Statistical Testing → Visualization → Insights → Recommendations  </vt:lpstr>
      <vt:lpstr>WHO ARE THE END USERS?</vt:lpstr>
      <vt:lpstr>Technology Used</vt:lpstr>
      <vt:lpstr>RESULTS </vt:lpstr>
      <vt:lpstr>RESULTS </vt:lpstr>
      <vt:lpstr>RESULTS </vt:lpstr>
      <vt:lpstr>RESULTS </vt:lpstr>
      <vt:lpstr>RESULTS </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Aswini Kumar Motapothula</cp:lastModifiedBy>
  <cp:revision>347</cp:revision>
  <dcterms:created xsi:type="dcterms:W3CDTF">2021-07-11T13:13:15Z</dcterms:created>
  <dcterms:modified xsi:type="dcterms:W3CDTF">2026-09-09T17:08:04Z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